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</p:sldIdLst>
  <p:sldSz cx="12192000" cy="5057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63BC"/>
    <a:srgbClr val="F5F1FB"/>
    <a:srgbClr val="250D88"/>
    <a:srgbClr val="C9C9CB"/>
    <a:srgbClr val="FEFEFE"/>
    <a:srgbClr val="091082"/>
    <a:srgbClr val="F0BEBB"/>
    <a:srgbClr val="FDEEEE"/>
    <a:srgbClr val="A50609"/>
    <a:srgbClr val="8BA8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91"/>
  </p:normalViewPr>
  <p:slideViewPr>
    <p:cSldViewPr snapToGrid="0">
      <p:cViewPr varScale="1">
        <p:scale>
          <a:sx n="128" d="100"/>
          <a:sy n="128" d="100"/>
        </p:scale>
        <p:origin x="17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7743"/>
            <a:ext cx="9144000" cy="1760855"/>
          </a:xfrm>
        </p:spPr>
        <p:txBody>
          <a:bodyPr anchor="b"/>
          <a:lstStyle>
            <a:lvl1pPr algn="ctr">
              <a:defRPr sz="44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56503"/>
            <a:ext cx="9144000" cy="1221124"/>
          </a:xfrm>
        </p:spPr>
        <p:txBody>
          <a:bodyPr/>
          <a:lstStyle>
            <a:lvl1pPr marL="0" indent="0" algn="ctr">
              <a:buNone/>
              <a:defRPr sz="1770"/>
            </a:lvl1pPr>
            <a:lvl2pPr marL="337185" indent="0" algn="ctr">
              <a:buNone/>
              <a:defRPr sz="1475"/>
            </a:lvl2pPr>
            <a:lvl3pPr marL="674370" indent="0" algn="ctr">
              <a:buNone/>
              <a:defRPr sz="1328"/>
            </a:lvl3pPr>
            <a:lvl4pPr marL="1011555" indent="0" algn="ctr">
              <a:buNone/>
              <a:defRPr sz="1180"/>
            </a:lvl4pPr>
            <a:lvl5pPr marL="1348740" indent="0" algn="ctr">
              <a:buNone/>
              <a:defRPr sz="1180"/>
            </a:lvl5pPr>
            <a:lvl6pPr marL="1685925" indent="0" algn="ctr">
              <a:buNone/>
              <a:defRPr sz="1180"/>
            </a:lvl6pPr>
            <a:lvl7pPr marL="2023110" indent="0" algn="ctr">
              <a:buNone/>
              <a:defRPr sz="1180"/>
            </a:lvl7pPr>
            <a:lvl8pPr marL="2360295" indent="0" algn="ctr">
              <a:buNone/>
              <a:defRPr sz="1180"/>
            </a:lvl8pPr>
            <a:lvl9pPr marL="2697480" indent="0" algn="ctr">
              <a:buNone/>
              <a:defRPr sz="118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517B-87B8-0A41-B8D7-B1AC43652BD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E0422-5891-FE42-A52D-1DCDB103B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16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517B-87B8-0A41-B8D7-B1AC43652BD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E0422-5891-FE42-A52D-1DCDB103B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13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60932"/>
            <a:ext cx="10515600" cy="2103894"/>
          </a:xfrm>
        </p:spPr>
        <p:txBody>
          <a:bodyPr anchor="b"/>
          <a:lstStyle>
            <a:lvl1pPr>
              <a:defRPr sz="44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384729"/>
            <a:ext cx="10515600" cy="1106388"/>
          </a:xfrm>
        </p:spPr>
        <p:txBody>
          <a:bodyPr/>
          <a:lstStyle>
            <a:lvl1pPr marL="0" indent="0">
              <a:buNone/>
              <a:defRPr sz="1770">
                <a:solidFill>
                  <a:schemeClr val="tx1">
                    <a:tint val="75000"/>
                  </a:schemeClr>
                </a:solidFill>
              </a:defRPr>
            </a:lvl1pPr>
            <a:lvl2pPr marL="337185" indent="0">
              <a:buNone/>
              <a:defRPr sz="1475">
                <a:solidFill>
                  <a:schemeClr val="tx1">
                    <a:tint val="75000"/>
                  </a:schemeClr>
                </a:solidFill>
              </a:defRPr>
            </a:lvl2pPr>
            <a:lvl3pPr marL="674370" indent="0">
              <a:buNone/>
              <a:defRPr sz="1328">
                <a:solidFill>
                  <a:schemeClr val="tx1">
                    <a:tint val="75000"/>
                  </a:schemeClr>
                </a:solidFill>
              </a:defRPr>
            </a:lvl3pPr>
            <a:lvl4pPr marL="1011555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4pPr>
            <a:lvl5pPr marL="1348740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5pPr>
            <a:lvl6pPr marL="1685925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6pPr>
            <a:lvl7pPr marL="2023110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7pPr>
            <a:lvl8pPr marL="2360295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8pPr>
            <a:lvl9pPr marL="2697480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517B-87B8-0A41-B8D7-B1AC43652BD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E0422-5891-FE42-A52D-1DCDB103B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07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46398"/>
            <a:ext cx="5181600" cy="32091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46398"/>
            <a:ext cx="5181600" cy="32091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517B-87B8-0A41-B8D7-B1AC43652BD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E0422-5891-FE42-A52D-1DCDB103B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13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69280"/>
            <a:ext cx="10515600" cy="97760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239858"/>
            <a:ext cx="5157787" cy="607635"/>
          </a:xfrm>
        </p:spPr>
        <p:txBody>
          <a:bodyPr anchor="b"/>
          <a:lstStyle>
            <a:lvl1pPr marL="0" indent="0">
              <a:buNone/>
              <a:defRPr sz="1770" b="1"/>
            </a:lvl1pPr>
            <a:lvl2pPr marL="337185" indent="0">
              <a:buNone/>
              <a:defRPr sz="1475" b="1"/>
            </a:lvl2pPr>
            <a:lvl3pPr marL="674370" indent="0">
              <a:buNone/>
              <a:defRPr sz="1328" b="1"/>
            </a:lvl3pPr>
            <a:lvl4pPr marL="1011555" indent="0">
              <a:buNone/>
              <a:defRPr sz="1180" b="1"/>
            </a:lvl4pPr>
            <a:lvl5pPr marL="1348740" indent="0">
              <a:buNone/>
              <a:defRPr sz="1180" b="1"/>
            </a:lvl5pPr>
            <a:lvl6pPr marL="1685925" indent="0">
              <a:buNone/>
              <a:defRPr sz="1180" b="1"/>
            </a:lvl6pPr>
            <a:lvl7pPr marL="2023110" indent="0">
              <a:buNone/>
              <a:defRPr sz="1180" b="1"/>
            </a:lvl7pPr>
            <a:lvl8pPr marL="2360295" indent="0">
              <a:buNone/>
              <a:defRPr sz="1180" b="1"/>
            </a:lvl8pPr>
            <a:lvl9pPr marL="2697480" indent="0">
              <a:buNone/>
              <a:defRPr sz="118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847493"/>
            <a:ext cx="5157787" cy="27173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39858"/>
            <a:ext cx="5183188" cy="607635"/>
          </a:xfrm>
        </p:spPr>
        <p:txBody>
          <a:bodyPr anchor="b"/>
          <a:lstStyle>
            <a:lvl1pPr marL="0" indent="0">
              <a:buNone/>
              <a:defRPr sz="1770" b="1"/>
            </a:lvl1pPr>
            <a:lvl2pPr marL="337185" indent="0">
              <a:buNone/>
              <a:defRPr sz="1475" b="1"/>
            </a:lvl2pPr>
            <a:lvl3pPr marL="674370" indent="0">
              <a:buNone/>
              <a:defRPr sz="1328" b="1"/>
            </a:lvl3pPr>
            <a:lvl4pPr marL="1011555" indent="0">
              <a:buNone/>
              <a:defRPr sz="1180" b="1"/>
            </a:lvl4pPr>
            <a:lvl5pPr marL="1348740" indent="0">
              <a:buNone/>
              <a:defRPr sz="1180" b="1"/>
            </a:lvl5pPr>
            <a:lvl6pPr marL="1685925" indent="0">
              <a:buNone/>
              <a:defRPr sz="1180" b="1"/>
            </a:lvl6pPr>
            <a:lvl7pPr marL="2023110" indent="0">
              <a:buNone/>
              <a:defRPr sz="1180" b="1"/>
            </a:lvl7pPr>
            <a:lvl8pPr marL="2360295" indent="0">
              <a:buNone/>
              <a:defRPr sz="1180" b="1"/>
            </a:lvl8pPr>
            <a:lvl9pPr marL="2697480" indent="0">
              <a:buNone/>
              <a:defRPr sz="118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847493"/>
            <a:ext cx="5183188" cy="27173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517B-87B8-0A41-B8D7-B1AC43652BD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E0422-5891-FE42-A52D-1DCDB103B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25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517B-87B8-0A41-B8D7-B1AC43652BD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E0422-5891-FE42-A52D-1DCDB103B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28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517B-87B8-0A41-B8D7-B1AC43652BD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E0422-5891-FE42-A52D-1DCDB103B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7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7185"/>
            <a:ext cx="3932237" cy="1180148"/>
          </a:xfrm>
        </p:spPr>
        <p:txBody>
          <a:bodyPr anchor="b"/>
          <a:lstStyle>
            <a:lvl1pPr>
              <a:defRPr sz="23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28227"/>
            <a:ext cx="6172200" cy="3594298"/>
          </a:xfrm>
        </p:spPr>
        <p:txBody>
          <a:bodyPr/>
          <a:lstStyle>
            <a:lvl1pPr>
              <a:defRPr sz="2360"/>
            </a:lvl1pPr>
            <a:lvl2pPr>
              <a:defRPr sz="2065"/>
            </a:lvl2pPr>
            <a:lvl3pPr>
              <a:defRPr sz="1770"/>
            </a:lvl3pPr>
            <a:lvl4pPr>
              <a:defRPr sz="1475"/>
            </a:lvl4pPr>
            <a:lvl5pPr>
              <a:defRPr sz="1475"/>
            </a:lvl5pPr>
            <a:lvl6pPr>
              <a:defRPr sz="1475"/>
            </a:lvl6pPr>
            <a:lvl7pPr>
              <a:defRPr sz="1475"/>
            </a:lvl7pPr>
            <a:lvl8pPr>
              <a:defRPr sz="1475"/>
            </a:lvl8pPr>
            <a:lvl9pPr>
              <a:defRPr sz="147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17333"/>
            <a:ext cx="3932237" cy="2811046"/>
          </a:xfrm>
        </p:spPr>
        <p:txBody>
          <a:bodyPr/>
          <a:lstStyle>
            <a:lvl1pPr marL="0" indent="0">
              <a:buNone/>
              <a:defRPr sz="1180"/>
            </a:lvl1pPr>
            <a:lvl2pPr marL="337185" indent="0">
              <a:buNone/>
              <a:defRPr sz="1033"/>
            </a:lvl2pPr>
            <a:lvl3pPr marL="674370" indent="0">
              <a:buNone/>
              <a:defRPr sz="885"/>
            </a:lvl3pPr>
            <a:lvl4pPr marL="1011555" indent="0">
              <a:buNone/>
              <a:defRPr sz="738"/>
            </a:lvl4pPr>
            <a:lvl5pPr marL="1348740" indent="0">
              <a:buNone/>
              <a:defRPr sz="738"/>
            </a:lvl5pPr>
            <a:lvl6pPr marL="1685925" indent="0">
              <a:buNone/>
              <a:defRPr sz="738"/>
            </a:lvl6pPr>
            <a:lvl7pPr marL="2023110" indent="0">
              <a:buNone/>
              <a:defRPr sz="738"/>
            </a:lvl7pPr>
            <a:lvl8pPr marL="2360295" indent="0">
              <a:buNone/>
              <a:defRPr sz="738"/>
            </a:lvl8pPr>
            <a:lvl9pPr marL="2697480" indent="0">
              <a:buNone/>
              <a:defRPr sz="73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517B-87B8-0A41-B8D7-B1AC43652BD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E0422-5891-FE42-A52D-1DCDB103B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47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7185"/>
            <a:ext cx="3932237" cy="1180148"/>
          </a:xfrm>
        </p:spPr>
        <p:txBody>
          <a:bodyPr anchor="b"/>
          <a:lstStyle>
            <a:lvl1pPr>
              <a:defRPr sz="23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28227"/>
            <a:ext cx="6172200" cy="3594298"/>
          </a:xfrm>
        </p:spPr>
        <p:txBody>
          <a:bodyPr anchor="t"/>
          <a:lstStyle>
            <a:lvl1pPr marL="0" indent="0">
              <a:buNone/>
              <a:defRPr sz="2360"/>
            </a:lvl1pPr>
            <a:lvl2pPr marL="337185" indent="0">
              <a:buNone/>
              <a:defRPr sz="2065"/>
            </a:lvl2pPr>
            <a:lvl3pPr marL="674370" indent="0">
              <a:buNone/>
              <a:defRPr sz="1770"/>
            </a:lvl3pPr>
            <a:lvl4pPr marL="1011555" indent="0">
              <a:buNone/>
              <a:defRPr sz="1475"/>
            </a:lvl4pPr>
            <a:lvl5pPr marL="1348740" indent="0">
              <a:buNone/>
              <a:defRPr sz="1475"/>
            </a:lvl5pPr>
            <a:lvl6pPr marL="1685925" indent="0">
              <a:buNone/>
              <a:defRPr sz="1475"/>
            </a:lvl6pPr>
            <a:lvl7pPr marL="2023110" indent="0">
              <a:buNone/>
              <a:defRPr sz="1475"/>
            </a:lvl7pPr>
            <a:lvl8pPr marL="2360295" indent="0">
              <a:buNone/>
              <a:defRPr sz="1475"/>
            </a:lvl8pPr>
            <a:lvl9pPr marL="2697480" indent="0">
              <a:buNone/>
              <a:defRPr sz="147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17333"/>
            <a:ext cx="3932237" cy="2811046"/>
          </a:xfrm>
        </p:spPr>
        <p:txBody>
          <a:bodyPr/>
          <a:lstStyle>
            <a:lvl1pPr marL="0" indent="0">
              <a:buNone/>
              <a:defRPr sz="1180"/>
            </a:lvl1pPr>
            <a:lvl2pPr marL="337185" indent="0">
              <a:buNone/>
              <a:defRPr sz="1033"/>
            </a:lvl2pPr>
            <a:lvl3pPr marL="674370" indent="0">
              <a:buNone/>
              <a:defRPr sz="885"/>
            </a:lvl3pPr>
            <a:lvl4pPr marL="1011555" indent="0">
              <a:buNone/>
              <a:defRPr sz="738"/>
            </a:lvl4pPr>
            <a:lvl5pPr marL="1348740" indent="0">
              <a:buNone/>
              <a:defRPr sz="738"/>
            </a:lvl5pPr>
            <a:lvl6pPr marL="1685925" indent="0">
              <a:buNone/>
              <a:defRPr sz="738"/>
            </a:lvl6pPr>
            <a:lvl7pPr marL="2023110" indent="0">
              <a:buNone/>
              <a:defRPr sz="738"/>
            </a:lvl7pPr>
            <a:lvl8pPr marL="2360295" indent="0">
              <a:buNone/>
              <a:defRPr sz="738"/>
            </a:lvl8pPr>
            <a:lvl9pPr marL="2697480" indent="0">
              <a:buNone/>
              <a:defRPr sz="73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517B-87B8-0A41-B8D7-B1AC43652BD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E0422-5891-FE42-A52D-1DCDB103B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51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517B-87B8-0A41-B8D7-B1AC43652BD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E0422-5891-FE42-A52D-1DCDB103B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08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69279"/>
            <a:ext cx="2628900" cy="428623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69279"/>
            <a:ext cx="7734300" cy="428623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517B-87B8-0A41-B8D7-B1AC43652BD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E0422-5891-FE42-A52D-1DCDB103B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3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69280"/>
            <a:ext cx="10515600" cy="977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46398"/>
            <a:ext cx="10515600" cy="3209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687808"/>
            <a:ext cx="2743200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F517B-87B8-0A41-B8D7-B1AC43652BD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687808"/>
            <a:ext cx="4114800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687808"/>
            <a:ext cx="2743200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E0422-5891-FE42-A52D-1DCDB103B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64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74370" rtl="0" eaLnBrk="1" latinLnBrk="0" hangingPunct="1">
        <a:lnSpc>
          <a:spcPct val="90000"/>
        </a:lnSpc>
        <a:spcBef>
          <a:spcPct val="0"/>
        </a:spcBef>
        <a:buNone/>
        <a:defRPr sz="32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593" indent="-168593" algn="l" defTabSz="67437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065" kern="1200">
          <a:solidFill>
            <a:schemeClr val="tx1"/>
          </a:solidFill>
          <a:latin typeface="+mn-lt"/>
          <a:ea typeface="+mn-ea"/>
          <a:cs typeface="+mn-cs"/>
        </a:defRPr>
      </a:lvl1pPr>
      <a:lvl2pPr marL="50577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2pPr>
      <a:lvl3pPr marL="84296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3pPr>
      <a:lvl4pPr marL="118014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4pPr>
      <a:lvl5pPr marL="151733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5pPr>
      <a:lvl6pPr marL="185451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6pPr>
      <a:lvl7pPr marL="219170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7pPr>
      <a:lvl8pPr marL="252888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8pPr>
      <a:lvl9pPr marL="286607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1pPr>
      <a:lvl2pPr marL="33718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2pPr>
      <a:lvl3pPr marL="67437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3pPr>
      <a:lvl4pPr marL="101155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4pPr>
      <a:lvl5pPr marL="134874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5pPr>
      <a:lvl6pPr marL="168592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6pPr>
      <a:lvl7pPr marL="202311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7pPr>
      <a:lvl8pPr marL="236029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8pPr>
      <a:lvl9pPr marL="269748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21.png"/><Relationship Id="rId21" Type="http://schemas.openxmlformats.org/officeDocument/2006/relationships/image" Target="../media/image35.png"/><Relationship Id="rId7" Type="http://schemas.openxmlformats.org/officeDocument/2006/relationships/image" Target="../media/image8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2" Type="http://schemas.openxmlformats.org/officeDocument/2006/relationships/image" Target="../media/image20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5" Type="http://schemas.openxmlformats.org/officeDocument/2006/relationships/image" Target="../media/image4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857233-F38E-F9A1-1655-1DF224755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278" y="-1344428"/>
            <a:ext cx="12347817" cy="69419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07B2CD-971F-EAA4-57D3-91ED2EBBCA16}"/>
              </a:ext>
            </a:extLst>
          </p:cNvPr>
          <p:cNvSpPr txBox="1"/>
          <p:nvPr/>
        </p:nvSpPr>
        <p:spPr>
          <a:xfrm>
            <a:off x="3267534" y="-20679"/>
            <a:ext cx="6320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Evaluating financial agents on ambiguous queries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0E337A4-25AC-D080-5231-33A7751CD4E0}"/>
              </a:ext>
            </a:extLst>
          </p:cNvPr>
          <p:cNvSpPr/>
          <p:nvPr/>
        </p:nvSpPr>
        <p:spPr>
          <a:xfrm>
            <a:off x="57493" y="440877"/>
            <a:ext cx="2259982" cy="4517375"/>
          </a:xfrm>
          <a:prstGeom prst="roundRect">
            <a:avLst>
              <a:gd name="adj" fmla="val 5585"/>
            </a:avLst>
          </a:prstGeom>
          <a:solidFill>
            <a:srgbClr val="FEFEFE"/>
          </a:solidFill>
          <a:ln>
            <a:solidFill>
              <a:srgbClr val="C2C2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877FC4-8A6B-9375-DB25-AB0C31957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4" y="5824383"/>
            <a:ext cx="12347817" cy="69419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E1A223-A6C4-A949-ABB4-803265F4FC2B}"/>
              </a:ext>
            </a:extLst>
          </p:cNvPr>
          <p:cNvSpPr txBox="1"/>
          <p:nvPr/>
        </p:nvSpPr>
        <p:spPr>
          <a:xfrm>
            <a:off x="462173" y="471494"/>
            <a:ext cx="19480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6900" indent="-126900">
              <a:buAutoNum type="arabicPeriod"/>
            </a:pPr>
            <a:r>
              <a:rPr lang="en-US" sz="1400" b="1" dirty="0">
                <a:solidFill>
                  <a:srgbClr val="000366"/>
                </a:solidFill>
              </a:rPr>
              <a:t>Real financial questions look simple</a:t>
            </a:r>
          </a:p>
          <a:p>
            <a:pPr marL="342900" indent="-342900">
              <a:buAutoNum type="arabicPeriod"/>
            </a:pPr>
            <a:endParaRPr lang="en-US" sz="1400" b="1" dirty="0">
              <a:solidFill>
                <a:srgbClr val="000366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9A9899-0682-9F0D-44B9-8139AC32A18B}"/>
              </a:ext>
            </a:extLst>
          </p:cNvPr>
          <p:cNvSpPr/>
          <p:nvPr/>
        </p:nvSpPr>
        <p:spPr>
          <a:xfrm>
            <a:off x="141345" y="544604"/>
            <a:ext cx="357809" cy="357809"/>
          </a:xfrm>
          <a:prstGeom prst="ellipse">
            <a:avLst/>
          </a:prstGeom>
          <a:solidFill>
            <a:srgbClr val="000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7838B7-0B83-B0CC-4E8F-136951ACB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24" y="969346"/>
            <a:ext cx="2017884" cy="110294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EB5A02D-82E3-46D4-9020-DC18ADF0D447}"/>
              </a:ext>
            </a:extLst>
          </p:cNvPr>
          <p:cNvSpPr txBox="1"/>
          <p:nvPr/>
        </p:nvSpPr>
        <p:spPr>
          <a:xfrm>
            <a:off x="715902" y="1107523"/>
            <a:ext cx="1363785" cy="646331"/>
          </a:xfrm>
          <a:prstGeom prst="rect">
            <a:avLst/>
          </a:prstGeom>
          <a:solidFill>
            <a:srgbClr val="FEFEFE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What was Meta Platforms’ operating income?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FB6974-6E60-EDBE-06DB-A95BD9A8F213}"/>
              </a:ext>
            </a:extLst>
          </p:cNvPr>
          <p:cNvSpPr txBox="1"/>
          <p:nvPr/>
        </p:nvSpPr>
        <p:spPr>
          <a:xfrm>
            <a:off x="334348" y="2017814"/>
            <a:ext cx="17032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Seemingly specified but neglects realistic financial practice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9F2917-2F60-A79E-C431-61FA0B776835}"/>
              </a:ext>
            </a:extLst>
          </p:cNvPr>
          <p:cNvCxnSpPr>
            <a:cxnSpLocks/>
          </p:cNvCxnSpPr>
          <p:nvPr/>
        </p:nvCxnSpPr>
        <p:spPr>
          <a:xfrm>
            <a:off x="178249" y="2786066"/>
            <a:ext cx="1998834" cy="0"/>
          </a:xfrm>
          <a:prstGeom prst="line">
            <a:avLst/>
          </a:prstGeom>
          <a:ln w="19050">
            <a:solidFill>
              <a:srgbClr val="CCCC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B4DAD29-F480-F0CA-F033-F38FD72F9477}"/>
              </a:ext>
            </a:extLst>
          </p:cNvPr>
          <p:cNvSpPr txBox="1"/>
          <p:nvPr/>
        </p:nvSpPr>
        <p:spPr>
          <a:xfrm>
            <a:off x="326593" y="2837942"/>
            <a:ext cx="17783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1E2690"/>
                </a:solidFill>
              </a:rPr>
              <a:t>Analyst workflow &amp; data landscape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781715C-43BD-69D8-BB23-183ACF21DB62}"/>
              </a:ext>
            </a:extLst>
          </p:cNvPr>
          <p:cNvSpPr/>
          <p:nvPr/>
        </p:nvSpPr>
        <p:spPr>
          <a:xfrm>
            <a:off x="138355" y="3431249"/>
            <a:ext cx="2089528" cy="1406488"/>
          </a:xfrm>
          <a:prstGeom prst="roundRect">
            <a:avLst>
              <a:gd name="adj" fmla="val 5585"/>
            </a:avLst>
          </a:prstGeom>
          <a:solidFill>
            <a:srgbClr val="F7FAFC"/>
          </a:solidFill>
          <a:ln>
            <a:solidFill>
              <a:srgbClr val="D5D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40BDEB7-91AA-4F40-2839-C6563904E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66" y="3505091"/>
            <a:ext cx="660400" cy="6985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EAC2FF3-1AB4-81CC-7C4A-F9D595A90F29}"/>
              </a:ext>
            </a:extLst>
          </p:cNvPr>
          <p:cNvSpPr txBox="1"/>
          <p:nvPr/>
        </p:nvSpPr>
        <p:spPr>
          <a:xfrm>
            <a:off x="736497" y="3513863"/>
            <a:ext cx="154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1E2690"/>
                </a:solidFill>
              </a:rPr>
              <a:t>Complexity behind question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A8C6A2-6FC9-2A2D-A9AD-7CEC2F2DB33B}"/>
              </a:ext>
            </a:extLst>
          </p:cNvPr>
          <p:cNvSpPr txBox="1"/>
          <p:nvPr/>
        </p:nvSpPr>
        <p:spPr>
          <a:xfrm>
            <a:off x="120429" y="4121805"/>
            <a:ext cx="2259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Companies report differently across entities, metrics, periods, filings, and accounting policies.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59B7C8D-97EE-054B-22B5-23300192D284}"/>
              </a:ext>
            </a:extLst>
          </p:cNvPr>
          <p:cNvSpPr/>
          <p:nvPr/>
        </p:nvSpPr>
        <p:spPr>
          <a:xfrm>
            <a:off x="2430372" y="440877"/>
            <a:ext cx="4286301" cy="4517375"/>
          </a:xfrm>
          <a:prstGeom prst="roundRect">
            <a:avLst>
              <a:gd name="adj" fmla="val 5585"/>
            </a:avLst>
          </a:prstGeom>
          <a:solidFill>
            <a:srgbClr val="FEFEFE"/>
          </a:solidFill>
          <a:ln>
            <a:solidFill>
              <a:srgbClr val="C2C2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5E3CA9-7EFC-C741-A6DB-4F1103F7539E}"/>
              </a:ext>
            </a:extLst>
          </p:cNvPr>
          <p:cNvSpPr txBox="1"/>
          <p:nvPr/>
        </p:nvSpPr>
        <p:spPr>
          <a:xfrm>
            <a:off x="3588365" y="471503"/>
            <a:ext cx="2474298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6900" indent="-126900">
              <a:buAutoNum type="arabicPeriod"/>
            </a:pPr>
            <a:r>
              <a:rPr lang="en-US" sz="100" b="1" dirty="0">
                <a:solidFill>
                  <a:schemeClr val="bg1"/>
                </a:solidFill>
              </a:rPr>
              <a:t>Real financial questions look simple</a:t>
            </a:r>
          </a:p>
          <a:p>
            <a:pPr marL="126900" indent="-126900">
              <a:buAutoNum type="arabicPeriod"/>
            </a:pPr>
            <a:r>
              <a:rPr lang="en-US" sz="1400" b="1" dirty="0">
                <a:solidFill>
                  <a:srgbClr val="000366"/>
                </a:solidFill>
              </a:rPr>
              <a:t>Hidden ambiguity creates multiple defensible answers</a:t>
            </a:r>
          </a:p>
          <a:p>
            <a:pPr marL="342900" indent="-342900">
              <a:buAutoNum type="arabicPeriod"/>
            </a:pPr>
            <a:endParaRPr lang="en-US" sz="1400" b="1" dirty="0">
              <a:solidFill>
                <a:srgbClr val="000366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A0BCBEA-8246-862E-3FC2-BC7A59C4BBC1}"/>
              </a:ext>
            </a:extLst>
          </p:cNvPr>
          <p:cNvSpPr/>
          <p:nvPr/>
        </p:nvSpPr>
        <p:spPr>
          <a:xfrm>
            <a:off x="3267537" y="544604"/>
            <a:ext cx="357809" cy="357809"/>
          </a:xfrm>
          <a:prstGeom prst="ellipse">
            <a:avLst/>
          </a:prstGeom>
          <a:solidFill>
            <a:srgbClr val="000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4D62DF8-6362-33E2-1180-A446CEF1DE0B}"/>
              </a:ext>
            </a:extLst>
          </p:cNvPr>
          <p:cNvSpPr/>
          <p:nvPr/>
        </p:nvSpPr>
        <p:spPr>
          <a:xfrm>
            <a:off x="3636774" y="1202773"/>
            <a:ext cx="1912161" cy="357809"/>
          </a:xfrm>
          <a:prstGeom prst="roundRect">
            <a:avLst>
              <a:gd name="adj" fmla="val 27106"/>
            </a:avLst>
          </a:prstGeom>
          <a:solidFill>
            <a:srgbClr val="E4EDFC"/>
          </a:solidFill>
          <a:ln>
            <a:solidFill>
              <a:srgbClr val="ABBD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Hidden ambiguity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CE911BB-BCB3-2B48-AB5F-D3A57FFAE0A4}"/>
              </a:ext>
            </a:extLst>
          </p:cNvPr>
          <p:cNvSpPr/>
          <p:nvPr/>
        </p:nvSpPr>
        <p:spPr>
          <a:xfrm>
            <a:off x="2466269" y="2064799"/>
            <a:ext cx="779118" cy="859178"/>
          </a:xfrm>
          <a:prstGeom prst="roundRect">
            <a:avLst>
              <a:gd name="adj" fmla="val 27106"/>
            </a:avLst>
          </a:prstGeom>
          <a:solidFill>
            <a:srgbClr val="F5F9FD"/>
          </a:solidFill>
          <a:ln>
            <a:solidFill>
              <a:srgbClr val="8FA6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A2C916-6738-02AB-7570-121A7F8179E7}"/>
              </a:ext>
            </a:extLst>
          </p:cNvPr>
          <p:cNvSpPr txBox="1"/>
          <p:nvPr/>
        </p:nvSpPr>
        <p:spPr>
          <a:xfrm>
            <a:off x="2551039" y="2376424"/>
            <a:ext cx="616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Entity scope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098D2D4-7CE4-E688-571C-ED3390509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9341" y="2120575"/>
            <a:ext cx="447909" cy="318513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C82CFB8-E0A2-887C-6565-FD1708BE1BF9}"/>
              </a:ext>
            </a:extLst>
          </p:cNvPr>
          <p:cNvSpPr/>
          <p:nvPr/>
        </p:nvSpPr>
        <p:spPr>
          <a:xfrm>
            <a:off x="3328205" y="2064799"/>
            <a:ext cx="779119" cy="859178"/>
          </a:xfrm>
          <a:prstGeom prst="roundRect">
            <a:avLst>
              <a:gd name="adj" fmla="val 27106"/>
            </a:avLst>
          </a:prstGeom>
          <a:solidFill>
            <a:srgbClr val="F5F9FD"/>
          </a:solidFill>
          <a:ln>
            <a:solidFill>
              <a:srgbClr val="8FA6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BBD0DA-8DE2-4C95-B9F0-5649F67858EE}"/>
              </a:ext>
            </a:extLst>
          </p:cNvPr>
          <p:cNvSpPr txBox="1"/>
          <p:nvPr/>
        </p:nvSpPr>
        <p:spPr>
          <a:xfrm>
            <a:off x="3249665" y="2376424"/>
            <a:ext cx="930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Metric definition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4D352E38-D8C0-46CD-6FB2-23B9C87E2F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5331" y="2083589"/>
            <a:ext cx="342900" cy="368300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5F84611-A14F-7544-4F08-C51D6F00845F}"/>
              </a:ext>
            </a:extLst>
          </p:cNvPr>
          <p:cNvSpPr/>
          <p:nvPr/>
        </p:nvSpPr>
        <p:spPr>
          <a:xfrm>
            <a:off x="4185861" y="2060020"/>
            <a:ext cx="779119" cy="859178"/>
          </a:xfrm>
          <a:prstGeom prst="roundRect">
            <a:avLst>
              <a:gd name="adj" fmla="val 27106"/>
            </a:avLst>
          </a:prstGeom>
          <a:solidFill>
            <a:srgbClr val="F5F9FD"/>
          </a:solidFill>
          <a:ln>
            <a:solidFill>
              <a:srgbClr val="8FA6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6179B9-B53B-1504-D55B-EE63CAA8BC0D}"/>
              </a:ext>
            </a:extLst>
          </p:cNvPr>
          <p:cNvSpPr txBox="1"/>
          <p:nvPr/>
        </p:nvSpPr>
        <p:spPr>
          <a:xfrm>
            <a:off x="4107321" y="2382796"/>
            <a:ext cx="930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Temporal scope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42EE70C7-230B-1989-2B48-AA71E0B457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6983" y="2074488"/>
            <a:ext cx="368300" cy="406400"/>
          </a:xfrm>
          <a:prstGeom prst="rect">
            <a:avLst/>
          </a:prstGeom>
        </p:spPr>
      </p:pic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B7922A9A-49F1-B01D-DA0D-6CB54A90CDEB}"/>
              </a:ext>
            </a:extLst>
          </p:cNvPr>
          <p:cNvSpPr/>
          <p:nvPr/>
        </p:nvSpPr>
        <p:spPr>
          <a:xfrm>
            <a:off x="5040650" y="2058468"/>
            <a:ext cx="779119" cy="859178"/>
          </a:xfrm>
          <a:prstGeom prst="roundRect">
            <a:avLst>
              <a:gd name="adj" fmla="val 27106"/>
            </a:avLst>
          </a:prstGeom>
          <a:solidFill>
            <a:srgbClr val="F5F9FD"/>
          </a:solidFill>
          <a:ln>
            <a:solidFill>
              <a:srgbClr val="8FA6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F28A342-7ED1-172D-0C42-8B01360B03F8}"/>
              </a:ext>
            </a:extLst>
          </p:cNvPr>
          <p:cNvSpPr txBox="1"/>
          <p:nvPr/>
        </p:nvSpPr>
        <p:spPr>
          <a:xfrm>
            <a:off x="4962110" y="2381244"/>
            <a:ext cx="930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Filing vintage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BF4E98E-2458-FD79-C61B-48D8229E2A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6742" y="2120572"/>
            <a:ext cx="266700" cy="342900"/>
          </a:xfrm>
          <a:prstGeom prst="rect">
            <a:avLst/>
          </a:prstGeom>
        </p:spPr>
      </p:pic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C18C6378-5D3E-2D11-6A78-68312A360979}"/>
              </a:ext>
            </a:extLst>
          </p:cNvPr>
          <p:cNvSpPr/>
          <p:nvPr/>
        </p:nvSpPr>
        <p:spPr>
          <a:xfrm>
            <a:off x="5895710" y="2062574"/>
            <a:ext cx="779119" cy="859178"/>
          </a:xfrm>
          <a:prstGeom prst="roundRect">
            <a:avLst>
              <a:gd name="adj" fmla="val 27106"/>
            </a:avLst>
          </a:prstGeom>
          <a:solidFill>
            <a:srgbClr val="F5F9FD"/>
          </a:solidFill>
          <a:ln>
            <a:solidFill>
              <a:srgbClr val="8FA6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DB4ABF1-80A2-1A51-FB80-8F2618266359}"/>
              </a:ext>
            </a:extLst>
          </p:cNvPr>
          <p:cNvSpPr txBox="1"/>
          <p:nvPr/>
        </p:nvSpPr>
        <p:spPr>
          <a:xfrm>
            <a:off x="5817170" y="2429957"/>
            <a:ext cx="930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Recognition policy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AA61F58E-BFD3-9FFD-94BD-25824CB048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9367" y="2087188"/>
            <a:ext cx="406400" cy="381000"/>
          </a:xfrm>
          <a:prstGeom prst="rect">
            <a:avLst/>
          </a:prstGeom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907F1C4-D726-5BD7-B592-8592F6035D5A}"/>
              </a:ext>
            </a:extLst>
          </p:cNvPr>
          <p:cNvCxnSpPr>
            <a:cxnSpLocks/>
            <a:stCxn id="38" idx="2"/>
            <a:endCxn id="41" idx="0"/>
          </p:cNvCxnSpPr>
          <p:nvPr/>
        </p:nvCxnSpPr>
        <p:spPr>
          <a:xfrm flipH="1">
            <a:off x="2855828" y="1560579"/>
            <a:ext cx="1737024" cy="504220"/>
          </a:xfrm>
          <a:prstGeom prst="straightConnector1">
            <a:avLst/>
          </a:prstGeom>
          <a:ln w="19050">
            <a:solidFill>
              <a:srgbClr val="000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A004938-B1FC-3C6F-7E64-CA034FFCE622}"/>
              </a:ext>
            </a:extLst>
          </p:cNvPr>
          <p:cNvCxnSpPr>
            <a:cxnSpLocks/>
            <a:stCxn id="38" idx="2"/>
            <a:endCxn id="44" idx="0"/>
          </p:cNvCxnSpPr>
          <p:nvPr/>
        </p:nvCxnSpPr>
        <p:spPr>
          <a:xfrm flipH="1">
            <a:off x="3717762" y="1560579"/>
            <a:ext cx="875090" cy="504220"/>
          </a:xfrm>
          <a:prstGeom prst="straightConnector1">
            <a:avLst/>
          </a:prstGeom>
          <a:ln w="19050">
            <a:solidFill>
              <a:srgbClr val="000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89DAFE6-9C17-ECD6-5FAF-06FFB7C3259D}"/>
              </a:ext>
            </a:extLst>
          </p:cNvPr>
          <p:cNvCxnSpPr>
            <a:cxnSpLocks/>
            <a:stCxn id="38" idx="2"/>
            <a:endCxn id="49" idx="0"/>
          </p:cNvCxnSpPr>
          <p:nvPr/>
        </p:nvCxnSpPr>
        <p:spPr>
          <a:xfrm flipH="1">
            <a:off x="4575418" y="1560582"/>
            <a:ext cx="17434" cy="499441"/>
          </a:xfrm>
          <a:prstGeom prst="straightConnector1">
            <a:avLst/>
          </a:prstGeom>
          <a:ln w="19050">
            <a:solidFill>
              <a:srgbClr val="000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A7D8342-AD54-B612-AD85-0653E9978DC0}"/>
              </a:ext>
            </a:extLst>
          </p:cNvPr>
          <p:cNvCxnSpPr>
            <a:cxnSpLocks/>
            <a:stCxn id="38" idx="2"/>
            <a:endCxn id="53" idx="0"/>
          </p:cNvCxnSpPr>
          <p:nvPr/>
        </p:nvCxnSpPr>
        <p:spPr>
          <a:xfrm>
            <a:off x="4592855" y="1560582"/>
            <a:ext cx="837355" cy="497889"/>
          </a:xfrm>
          <a:prstGeom prst="straightConnector1">
            <a:avLst/>
          </a:prstGeom>
          <a:ln w="19050">
            <a:solidFill>
              <a:srgbClr val="000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7450D3F-09FA-FED1-0776-F9698CDA4CA0}"/>
              </a:ext>
            </a:extLst>
          </p:cNvPr>
          <p:cNvCxnSpPr>
            <a:cxnSpLocks/>
            <a:stCxn id="38" idx="2"/>
            <a:endCxn id="58" idx="0"/>
          </p:cNvCxnSpPr>
          <p:nvPr/>
        </p:nvCxnSpPr>
        <p:spPr>
          <a:xfrm>
            <a:off x="4592855" y="1560582"/>
            <a:ext cx="1692415" cy="501995"/>
          </a:xfrm>
          <a:prstGeom prst="straightConnector1">
            <a:avLst/>
          </a:prstGeom>
          <a:ln w="19050">
            <a:solidFill>
              <a:srgbClr val="000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CF0C986-9C6D-4DC5-92C2-A27492CA365B}"/>
              </a:ext>
            </a:extLst>
          </p:cNvPr>
          <p:cNvGrpSpPr/>
          <p:nvPr/>
        </p:nvGrpSpPr>
        <p:grpSpPr>
          <a:xfrm>
            <a:off x="2620303" y="3189395"/>
            <a:ext cx="1786467" cy="1071814"/>
            <a:chOff x="2945708" y="3319741"/>
            <a:chExt cx="1786467" cy="1071814"/>
          </a:xfrm>
        </p:grpSpPr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23093266-58A0-4542-B091-E0294461F5D5}"/>
                </a:ext>
              </a:extLst>
            </p:cNvPr>
            <p:cNvSpPr/>
            <p:nvPr/>
          </p:nvSpPr>
          <p:spPr>
            <a:xfrm>
              <a:off x="2945708" y="3319741"/>
              <a:ext cx="1737024" cy="1071814"/>
            </a:xfrm>
            <a:prstGeom prst="roundRect">
              <a:avLst>
                <a:gd name="adj" fmla="val 14261"/>
              </a:avLst>
            </a:prstGeom>
            <a:solidFill>
              <a:srgbClr val="F6F9FE"/>
            </a:solidFill>
            <a:ln>
              <a:solidFill>
                <a:srgbClr val="7791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D47DD41-800C-7022-E3B5-699CE359E3B1}"/>
                </a:ext>
              </a:extLst>
            </p:cNvPr>
            <p:cNvSpPr txBox="1"/>
            <p:nvPr/>
          </p:nvSpPr>
          <p:spPr>
            <a:xfrm>
              <a:off x="3015478" y="3369854"/>
              <a:ext cx="16129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1E2690"/>
                  </a:solidFill>
                </a:rPr>
                <a:t>Default reading: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849F1BD-34D5-369D-C7C8-93C5AF139798}"/>
                </a:ext>
              </a:extLst>
            </p:cNvPr>
            <p:cNvSpPr txBox="1"/>
            <p:nvPr/>
          </p:nvSpPr>
          <p:spPr>
            <a:xfrm>
              <a:off x="3000015" y="3675660"/>
              <a:ext cx="1703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$62.87B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625B2B4-6A9D-87FB-3BCB-AE09B08900AC}"/>
                </a:ext>
              </a:extLst>
            </p:cNvPr>
            <p:cNvSpPr txBox="1"/>
            <p:nvPr/>
          </p:nvSpPr>
          <p:spPr>
            <a:xfrm>
              <a:off x="2973027" y="4003093"/>
              <a:ext cx="17591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1E2690"/>
                  </a:solidFill>
                </a:rPr>
                <a:t>(Family of Apps)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8212B0D-B778-9652-29C0-2DFC08F7474A}"/>
              </a:ext>
            </a:extLst>
          </p:cNvPr>
          <p:cNvGrpSpPr/>
          <p:nvPr/>
        </p:nvGrpSpPr>
        <p:grpSpPr>
          <a:xfrm>
            <a:off x="4735720" y="3187605"/>
            <a:ext cx="1801272" cy="1071814"/>
            <a:chOff x="2937430" y="3319741"/>
            <a:chExt cx="1801272" cy="1071814"/>
          </a:xfrm>
        </p:grpSpPr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CDFB6A9F-1846-3C63-030F-6BC38A793532}"/>
                </a:ext>
              </a:extLst>
            </p:cNvPr>
            <p:cNvSpPr/>
            <p:nvPr/>
          </p:nvSpPr>
          <p:spPr>
            <a:xfrm>
              <a:off x="2945708" y="3319741"/>
              <a:ext cx="1737024" cy="1071814"/>
            </a:xfrm>
            <a:prstGeom prst="roundRect">
              <a:avLst>
                <a:gd name="adj" fmla="val 14261"/>
              </a:avLst>
            </a:prstGeom>
            <a:solidFill>
              <a:srgbClr val="F7FBF6"/>
            </a:solidFill>
            <a:ln>
              <a:solidFill>
                <a:srgbClr val="79B1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9A7CBD8-0215-CA76-4CD3-4D6A1D083C49}"/>
                </a:ext>
              </a:extLst>
            </p:cNvPr>
            <p:cNvSpPr txBox="1"/>
            <p:nvPr/>
          </p:nvSpPr>
          <p:spPr>
            <a:xfrm>
              <a:off x="2979554" y="3369362"/>
              <a:ext cx="17591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C4C0D"/>
                  </a:solidFill>
                </a:rPr>
                <a:t>Intended reading: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54C2BF2-C62F-017D-835F-B97BD9DC5FDE}"/>
                </a:ext>
              </a:extLst>
            </p:cNvPr>
            <p:cNvSpPr txBox="1"/>
            <p:nvPr/>
          </p:nvSpPr>
          <p:spPr>
            <a:xfrm>
              <a:off x="2942372" y="3674214"/>
              <a:ext cx="1703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$46.75B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5B56271-7F9B-948F-DDCE-7862350CAD98}"/>
                </a:ext>
              </a:extLst>
            </p:cNvPr>
            <p:cNvSpPr txBox="1"/>
            <p:nvPr/>
          </p:nvSpPr>
          <p:spPr>
            <a:xfrm>
              <a:off x="2937430" y="4017584"/>
              <a:ext cx="17591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C4C0D"/>
                  </a:solidFill>
                </a:rPr>
                <a:t>(Consolidated GAAP)</a:t>
              </a:r>
            </a:p>
          </p:txBody>
        </p:sp>
      </p:grpSp>
      <p:sp>
        <p:nvSpPr>
          <p:cNvPr id="87" name="Right Brace 86">
            <a:extLst>
              <a:ext uri="{FF2B5EF4-FFF2-40B4-BE49-F238E27FC236}">
                <a16:creationId xmlns:a16="http://schemas.microsoft.com/office/drawing/2014/main" id="{B6A6A7E2-056D-F460-6ED8-372B5D1A8339}"/>
              </a:ext>
            </a:extLst>
          </p:cNvPr>
          <p:cNvSpPr/>
          <p:nvPr/>
        </p:nvSpPr>
        <p:spPr>
          <a:xfrm rot="5400000">
            <a:off x="4367824" y="2479443"/>
            <a:ext cx="369331" cy="3893116"/>
          </a:xfrm>
          <a:prstGeom prst="rightBrace">
            <a:avLst>
              <a:gd name="adj1" fmla="val 57274"/>
              <a:gd name="adj2" fmla="val 50000"/>
            </a:avLst>
          </a:prstGeom>
          <a:ln w="19050">
            <a:solidFill>
              <a:srgbClr val="394B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1BBA742-D3FF-3E46-049E-960FA160CA0E}"/>
              </a:ext>
            </a:extLst>
          </p:cNvPr>
          <p:cNvSpPr txBox="1"/>
          <p:nvPr/>
        </p:nvSpPr>
        <p:spPr>
          <a:xfrm>
            <a:off x="2623115" y="4601026"/>
            <a:ext cx="3875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Both are plausible without clarification.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0D92CFB5-0BAD-F99B-E8F3-C0A132A6DB40}"/>
              </a:ext>
            </a:extLst>
          </p:cNvPr>
          <p:cNvSpPr/>
          <p:nvPr/>
        </p:nvSpPr>
        <p:spPr>
          <a:xfrm>
            <a:off x="6822248" y="440877"/>
            <a:ext cx="2259982" cy="4517375"/>
          </a:xfrm>
          <a:prstGeom prst="roundRect">
            <a:avLst>
              <a:gd name="adj" fmla="val 5585"/>
            </a:avLst>
          </a:prstGeom>
          <a:solidFill>
            <a:srgbClr val="FEFEFE"/>
          </a:solidFill>
          <a:ln>
            <a:solidFill>
              <a:srgbClr val="C2C2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661A624-891D-22BF-84C1-F7E180A763A4}"/>
              </a:ext>
            </a:extLst>
          </p:cNvPr>
          <p:cNvSpPr/>
          <p:nvPr/>
        </p:nvSpPr>
        <p:spPr>
          <a:xfrm>
            <a:off x="6889167" y="544604"/>
            <a:ext cx="357809" cy="357809"/>
          </a:xfrm>
          <a:prstGeom prst="ellipse">
            <a:avLst/>
          </a:prstGeom>
          <a:solidFill>
            <a:srgbClr val="000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4C2183B-57D3-689D-1DD9-6C7ED6E3E5F2}"/>
              </a:ext>
            </a:extLst>
          </p:cNvPr>
          <p:cNvSpPr txBox="1"/>
          <p:nvPr/>
        </p:nvSpPr>
        <p:spPr>
          <a:xfrm>
            <a:off x="6838475" y="4506085"/>
            <a:ext cx="2259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Retrieval surfaces evidence without resolving ambiguity.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3B238B3-A475-60E2-F754-132CAC13CC5A}"/>
              </a:ext>
            </a:extLst>
          </p:cNvPr>
          <p:cNvSpPr txBox="1"/>
          <p:nvPr/>
        </p:nvSpPr>
        <p:spPr>
          <a:xfrm>
            <a:off x="7208004" y="449948"/>
            <a:ext cx="19798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6900" indent="-126900">
              <a:buAutoNum type="arabicPeriod"/>
            </a:pPr>
            <a:r>
              <a:rPr lang="en-US" sz="100" b="1" dirty="0">
                <a:solidFill>
                  <a:schemeClr val="bg1"/>
                </a:solidFill>
              </a:rPr>
              <a:t>Real financial questions look simple</a:t>
            </a:r>
          </a:p>
          <a:p>
            <a:pPr marL="126900" indent="-126900">
              <a:buAutoNum type="arabicPeriod"/>
            </a:pPr>
            <a:r>
              <a:rPr lang="en-US" sz="100" b="1" dirty="0">
                <a:solidFill>
                  <a:schemeClr val="bg1"/>
                </a:solidFill>
              </a:rPr>
              <a:t>Hidden ambiguity creates multiple defensible answers</a:t>
            </a:r>
          </a:p>
          <a:p>
            <a:pPr marL="126900" indent="-126900">
              <a:buAutoNum type="arabicPeriod"/>
            </a:pPr>
            <a:r>
              <a:rPr lang="en-US" sz="1400" b="1" dirty="0">
                <a:solidFill>
                  <a:srgbClr val="000366"/>
                </a:solidFill>
              </a:rPr>
              <a:t>Existing benchmarks miss real failure case</a:t>
            </a:r>
          </a:p>
          <a:p>
            <a:pPr marL="342900" indent="-342900">
              <a:buAutoNum type="arabicPeriod"/>
            </a:pPr>
            <a:endParaRPr lang="en-US" sz="1400" b="1" dirty="0">
              <a:solidFill>
                <a:srgbClr val="000366"/>
              </a:solidFill>
            </a:endParaRP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9F3EF0E8-47FF-D844-8D2A-FE02F76E4F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73441" y="1318622"/>
            <a:ext cx="553714" cy="59473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9FBE8608-C928-B7BC-ADC9-00C28526683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0675" y="1357430"/>
            <a:ext cx="547178" cy="507141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ADE0EEA7-4B68-7229-5D32-82C1403F536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2066" y="1313653"/>
            <a:ext cx="479436" cy="599295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8CD2AAA4-945E-B14C-7C5B-7106AFEA352B}"/>
              </a:ext>
            </a:extLst>
          </p:cNvPr>
          <p:cNvSpPr txBox="1"/>
          <p:nvPr/>
        </p:nvSpPr>
        <p:spPr>
          <a:xfrm>
            <a:off x="7068071" y="1002356"/>
            <a:ext cx="1778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1E2690"/>
                </a:solidFill>
              </a:rPr>
              <a:t>Search-only agent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13AC272-E2F9-B7EA-DA27-D4B695920EAD}"/>
              </a:ext>
            </a:extLst>
          </p:cNvPr>
          <p:cNvSpPr txBox="1"/>
          <p:nvPr/>
        </p:nvSpPr>
        <p:spPr>
          <a:xfrm>
            <a:off x="6973972" y="1836329"/>
            <a:ext cx="1988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Retrieves evidence and produces plausible answer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8D1D420-482F-AB56-E6A2-3EC6780E5317}"/>
              </a:ext>
            </a:extLst>
          </p:cNvPr>
          <p:cNvCxnSpPr>
            <a:cxnSpLocks/>
            <a:stCxn id="102" idx="3"/>
            <a:endCxn id="103" idx="1"/>
          </p:cNvCxnSpPr>
          <p:nvPr/>
        </p:nvCxnSpPr>
        <p:spPr>
          <a:xfrm flipV="1">
            <a:off x="7427155" y="1611001"/>
            <a:ext cx="243520" cy="4989"/>
          </a:xfrm>
          <a:prstGeom prst="straightConnector1">
            <a:avLst/>
          </a:prstGeom>
          <a:ln w="19050">
            <a:solidFill>
              <a:srgbClr val="000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8245B81-A37A-13B7-4F06-F0C536680A36}"/>
              </a:ext>
            </a:extLst>
          </p:cNvPr>
          <p:cNvCxnSpPr>
            <a:cxnSpLocks/>
            <a:stCxn id="103" idx="3"/>
            <a:endCxn id="104" idx="1"/>
          </p:cNvCxnSpPr>
          <p:nvPr/>
        </p:nvCxnSpPr>
        <p:spPr>
          <a:xfrm>
            <a:off x="8217856" y="1610998"/>
            <a:ext cx="294213" cy="2300"/>
          </a:xfrm>
          <a:prstGeom prst="straightConnector1">
            <a:avLst/>
          </a:prstGeom>
          <a:ln w="19050">
            <a:solidFill>
              <a:srgbClr val="000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E5DDCDA6-FB95-0E29-2C80-FA9B3C343C88}"/>
              </a:ext>
            </a:extLst>
          </p:cNvPr>
          <p:cNvCxnSpPr>
            <a:cxnSpLocks/>
            <a:stCxn id="44" idx="2"/>
            <a:endCxn id="77" idx="0"/>
          </p:cNvCxnSpPr>
          <p:nvPr/>
        </p:nvCxnSpPr>
        <p:spPr>
          <a:xfrm flipH="1">
            <a:off x="3488812" y="2923977"/>
            <a:ext cx="228950" cy="265418"/>
          </a:xfrm>
          <a:prstGeom prst="straightConnector1">
            <a:avLst/>
          </a:prstGeom>
          <a:ln w="19050">
            <a:solidFill>
              <a:srgbClr val="00036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9EB4648F-689D-1F80-3605-7F1B083C60BC}"/>
              </a:ext>
            </a:extLst>
          </p:cNvPr>
          <p:cNvCxnSpPr>
            <a:cxnSpLocks/>
            <a:stCxn id="44" idx="2"/>
            <a:endCxn id="83" idx="0"/>
          </p:cNvCxnSpPr>
          <p:nvPr/>
        </p:nvCxnSpPr>
        <p:spPr>
          <a:xfrm>
            <a:off x="3717762" y="2923977"/>
            <a:ext cx="1894748" cy="263628"/>
          </a:xfrm>
          <a:prstGeom prst="straightConnector1">
            <a:avLst/>
          </a:prstGeom>
          <a:ln w="19050">
            <a:solidFill>
              <a:srgbClr val="00036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CA66F5A-DF94-89F2-F279-581764FFA176}"/>
              </a:ext>
            </a:extLst>
          </p:cNvPr>
          <p:cNvGrpSpPr/>
          <p:nvPr/>
        </p:nvGrpSpPr>
        <p:grpSpPr>
          <a:xfrm>
            <a:off x="7055732" y="2276287"/>
            <a:ext cx="1759148" cy="856723"/>
            <a:chOff x="2934646" y="3234016"/>
            <a:chExt cx="1759148" cy="856723"/>
          </a:xfrm>
        </p:grpSpPr>
        <p:sp>
          <p:nvSpPr>
            <p:cNvPr id="121" name="Rounded Rectangle 120">
              <a:extLst>
                <a:ext uri="{FF2B5EF4-FFF2-40B4-BE49-F238E27FC236}">
                  <a16:creationId xmlns:a16="http://schemas.microsoft.com/office/drawing/2014/main" id="{9E3D06A7-183F-60F5-2680-15F57072CF7B}"/>
                </a:ext>
              </a:extLst>
            </p:cNvPr>
            <p:cNvSpPr/>
            <p:nvPr/>
          </p:nvSpPr>
          <p:spPr>
            <a:xfrm>
              <a:off x="3095336" y="3234016"/>
              <a:ext cx="1425261" cy="856723"/>
            </a:xfrm>
            <a:prstGeom prst="roundRect">
              <a:avLst>
                <a:gd name="adj" fmla="val 14261"/>
              </a:avLst>
            </a:prstGeom>
            <a:solidFill>
              <a:srgbClr val="F6F9FE"/>
            </a:solidFill>
            <a:ln>
              <a:solidFill>
                <a:srgbClr val="7791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98A13D7-2628-EC20-1425-5391D037F62E}"/>
                </a:ext>
              </a:extLst>
            </p:cNvPr>
            <p:cNvSpPr txBox="1"/>
            <p:nvPr/>
          </p:nvSpPr>
          <p:spPr>
            <a:xfrm>
              <a:off x="3015478" y="3286729"/>
              <a:ext cx="1612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1E2690"/>
                  </a:solidFill>
                </a:rPr>
                <a:t>Answer returned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5587B2E-175F-F138-E819-F5883A6BB0DA}"/>
                </a:ext>
              </a:extLst>
            </p:cNvPr>
            <p:cNvSpPr txBox="1"/>
            <p:nvPr/>
          </p:nvSpPr>
          <p:spPr>
            <a:xfrm>
              <a:off x="2970338" y="3495778"/>
              <a:ext cx="17032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$62.87B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C73A0DD4-B854-C0F7-4CD9-6E7818AC73C0}"/>
                </a:ext>
              </a:extLst>
            </p:cNvPr>
            <p:cNvSpPr txBox="1"/>
            <p:nvPr/>
          </p:nvSpPr>
          <p:spPr>
            <a:xfrm>
              <a:off x="2934646" y="3712089"/>
              <a:ext cx="17591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1E2690"/>
                  </a:solidFill>
                </a:rPr>
                <a:t>(Family of Apps)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506B0E6-CD42-C9A4-A3A7-6E22F4F4C11A}"/>
              </a:ext>
            </a:extLst>
          </p:cNvPr>
          <p:cNvGrpSpPr/>
          <p:nvPr/>
        </p:nvGrpSpPr>
        <p:grpSpPr>
          <a:xfrm>
            <a:off x="6823787" y="3209496"/>
            <a:ext cx="2248224" cy="1293265"/>
            <a:chOff x="6857653" y="3634938"/>
            <a:chExt cx="2248224" cy="1293265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08FB8FD5-7AE4-144D-85F5-2001B582CA86}"/>
                </a:ext>
              </a:extLst>
            </p:cNvPr>
            <p:cNvGrpSpPr/>
            <p:nvPr/>
          </p:nvGrpSpPr>
          <p:grpSpPr>
            <a:xfrm>
              <a:off x="6857653" y="3634938"/>
              <a:ext cx="2248224" cy="1293265"/>
              <a:chOff x="9139751" y="4025529"/>
              <a:chExt cx="2248224" cy="1293265"/>
            </a:xfrm>
          </p:grpSpPr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27CFF873-9AEC-F777-7D17-FF7AD3E9CC5B}"/>
                  </a:ext>
                </a:extLst>
              </p:cNvPr>
              <p:cNvGrpSpPr/>
              <p:nvPr/>
            </p:nvGrpSpPr>
            <p:grpSpPr>
              <a:xfrm>
                <a:off x="9139751" y="4025529"/>
                <a:ext cx="2248224" cy="1293265"/>
                <a:chOff x="3027270" y="3222865"/>
                <a:chExt cx="2248224" cy="1293265"/>
              </a:xfrm>
            </p:grpSpPr>
            <p:sp>
              <p:nvSpPr>
                <p:cNvPr id="126" name="Rounded Rectangle 125">
                  <a:extLst>
                    <a:ext uri="{FF2B5EF4-FFF2-40B4-BE49-F238E27FC236}">
                      <a16:creationId xmlns:a16="http://schemas.microsoft.com/office/drawing/2014/main" id="{84836176-B931-9B82-11C8-7A9845D3807A}"/>
                    </a:ext>
                  </a:extLst>
                </p:cNvPr>
                <p:cNvSpPr/>
                <p:nvPr/>
              </p:nvSpPr>
              <p:spPr>
                <a:xfrm>
                  <a:off x="3084185" y="3222865"/>
                  <a:ext cx="2144253" cy="1275148"/>
                </a:xfrm>
                <a:prstGeom prst="roundRect">
                  <a:avLst>
                    <a:gd name="adj" fmla="val 14261"/>
                  </a:avLst>
                </a:prstGeom>
                <a:solidFill>
                  <a:srgbClr val="FEF4F4"/>
                </a:solidFill>
                <a:ln>
                  <a:solidFill>
                    <a:srgbClr val="D0454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2842FEAE-DEE0-E800-32AB-00D4AED01089}"/>
                    </a:ext>
                  </a:extLst>
                </p:cNvPr>
                <p:cNvSpPr txBox="1"/>
                <p:nvPr/>
              </p:nvSpPr>
              <p:spPr>
                <a:xfrm>
                  <a:off x="3441574" y="3238009"/>
                  <a:ext cx="161299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rgbClr val="BE0101"/>
                      </a:solidFill>
                    </a:rPr>
                    <a:t>Single-gold illusion</a:t>
                  </a: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CBD1C793-5A63-7E4E-3AE5-27FE94C04890}"/>
                    </a:ext>
                  </a:extLst>
                </p:cNvPr>
                <p:cNvSpPr txBox="1"/>
                <p:nvPr/>
              </p:nvSpPr>
              <p:spPr>
                <a:xfrm>
                  <a:off x="3027270" y="3440849"/>
                  <a:ext cx="224822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Conventional single gold benchmarks may score default answer as correct</a:t>
                  </a:r>
                </a:p>
              </p:txBody>
            </p: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6C94BF8A-CAC4-4146-BA0C-F48299F12BCD}"/>
                    </a:ext>
                  </a:extLst>
                </p:cNvPr>
                <p:cNvSpPr txBox="1"/>
                <p:nvPr/>
              </p:nvSpPr>
              <p:spPr>
                <a:xfrm>
                  <a:off x="3223518" y="3992910"/>
                  <a:ext cx="185157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rgbClr val="BE0101"/>
                      </a:solidFill>
                    </a:rPr>
                    <a:t>Overstate competence by up to 3X</a:t>
                  </a:r>
                </a:p>
              </p:txBody>
            </p:sp>
          </p:grpSp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987617C8-3F46-791E-8F6B-EDCEB0C453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16203" y="4076938"/>
                <a:ext cx="235245" cy="235245"/>
              </a:xfrm>
              <a:prstGeom prst="rect">
                <a:avLst/>
              </a:prstGeom>
            </p:spPr>
          </p:pic>
        </p:grp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70BB7037-E8F9-9CCD-9AE4-E43377972866}"/>
                </a:ext>
              </a:extLst>
            </p:cNvPr>
            <p:cNvCxnSpPr>
              <a:cxnSpLocks/>
            </p:cNvCxnSpPr>
            <p:nvPr/>
          </p:nvCxnSpPr>
          <p:spPr>
            <a:xfrm>
              <a:off x="6977508" y="4458412"/>
              <a:ext cx="1998834" cy="0"/>
            </a:xfrm>
            <a:prstGeom prst="line">
              <a:avLst/>
            </a:prstGeom>
            <a:ln w="19050">
              <a:solidFill>
                <a:srgbClr val="CB151A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4F9A12BB-620B-4EC8-2F04-FC220A9FA20E}"/>
              </a:ext>
            </a:extLst>
          </p:cNvPr>
          <p:cNvSpPr/>
          <p:nvPr/>
        </p:nvSpPr>
        <p:spPr>
          <a:xfrm>
            <a:off x="9175027" y="427663"/>
            <a:ext cx="2951876" cy="4517375"/>
          </a:xfrm>
          <a:prstGeom prst="roundRect">
            <a:avLst>
              <a:gd name="adj" fmla="val 5585"/>
            </a:avLst>
          </a:prstGeom>
          <a:solidFill>
            <a:srgbClr val="FEFEFE"/>
          </a:solidFill>
          <a:ln>
            <a:solidFill>
              <a:srgbClr val="C2C2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9279FDE8-D4CA-7F9C-783C-CD1C221A8D34}"/>
              </a:ext>
            </a:extLst>
          </p:cNvPr>
          <p:cNvSpPr/>
          <p:nvPr/>
        </p:nvSpPr>
        <p:spPr>
          <a:xfrm>
            <a:off x="9258880" y="531389"/>
            <a:ext cx="357809" cy="357809"/>
          </a:xfrm>
          <a:prstGeom prst="ellipse">
            <a:avLst/>
          </a:prstGeom>
          <a:solidFill>
            <a:srgbClr val="000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F3507B0-BA01-6CEC-4191-25E259AD2716}"/>
              </a:ext>
            </a:extLst>
          </p:cNvPr>
          <p:cNvSpPr txBox="1"/>
          <p:nvPr/>
        </p:nvSpPr>
        <p:spPr>
          <a:xfrm>
            <a:off x="9662382" y="487535"/>
            <a:ext cx="238827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6900" indent="-126900">
              <a:buAutoNum type="arabicPeriod"/>
            </a:pPr>
            <a:r>
              <a:rPr lang="en-US" sz="100" b="1" dirty="0">
                <a:solidFill>
                  <a:schemeClr val="bg1"/>
                </a:solidFill>
              </a:rPr>
              <a:t>Real financial questions look simple</a:t>
            </a:r>
          </a:p>
          <a:p>
            <a:pPr marL="126900" indent="-126900">
              <a:buAutoNum type="arabicPeriod"/>
            </a:pPr>
            <a:r>
              <a:rPr lang="en-US" sz="100" b="1" dirty="0">
                <a:solidFill>
                  <a:schemeClr val="bg1"/>
                </a:solidFill>
              </a:rPr>
              <a:t>Hidden ambiguity creates multiple defensible answers</a:t>
            </a:r>
          </a:p>
          <a:p>
            <a:pPr marL="126900" indent="-126900">
              <a:buAutoNum type="arabicPeriod"/>
            </a:pPr>
            <a:r>
              <a:rPr lang="en-US" sz="100" b="1" dirty="0">
                <a:solidFill>
                  <a:schemeClr val="bg1"/>
                </a:solidFill>
              </a:rPr>
              <a:t>Existing benchmarks miss real failure case</a:t>
            </a:r>
          </a:p>
          <a:p>
            <a:pPr marL="126900" indent="-126900">
              <a:buAutoNum type="arabicPeriod"/>
            </a:pPr>
            <a:r>
              <a:rPr lang="en-US" sz="1400" b="1" dirty="0">
                <a:solidFill>
                  <a:srgbClr val="000366"/>
                </a:solidFill>
              </a:rPr>
              <a:t>What </a:t>
            </a:r>
            <a:r>
              <a:rPr lang="en-US" sz="1400" b="1" dirty="0" err="1">
                <a:solidFill>
                  <a:srgbClr val="000366"/>
                </a:solidFill>
              </a:rPr>
              <a:t>FinInteract</a:t>
            </a:r>
            <a:r>
              <a:rPr lang="en-US" sz="1400" b="1" dirty="0">
                <a:solidFill>
                  <a:srgbClr val="000366"/>
                </a:solidFill>
              </a:rPr>
              <a:t> measures</a:t>
            </a:r>
          </a:p>
        </p:txBody>
      </p:sp>
      <p:pic>
        <p:nvPicPr>
          <p:cNvPr id="160" name="Picture 159">
            <a:extLst>
              <a:ext uri="{FF2B5EF4-FFF2-40B4-BE49-F238E27FC236}">
                <a16:creationId xmlns:a16="http://schemas.microsoft.com/office/drawing/2014/main" id="{364E8DC3-6BE6-CA54-1419-2A5FE32A882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33706" y="1111718"/>
            <a:ext cx="533400" cy="508000"/>
          </a:xfrm>
          <a:prstGeom prst="rect">
            <a:avLst/>
          </a:prstGeom>
        </p:spPr>
      </p:pic>
      <p:sp>
        <p:nvSpPr>
          <p:cNvPr id="166" name="Freeform 165">
            <a:extLst>
              <a:ext uri="{FF2B5EF4-FFF2-40B4-BE49-F238E27FC236}">
                <a16:creationId xmlns:a16="http://schemas.microsoft.com/office/drawing/2014/main" id="{7DEF970D-A423-3736-A8DD-AC912C8A9ED1}"/>
              </a:ext>
            </a:extLst>
          </p:cNvPr>
          <p:cNvSpPr/>
          <p:nvPr/>
        </p:nvSpPr>
        <p:spPr>
          <a:xfrm rot="15439939">
            <a:off x="10513731" y="603844"/>
            <a:ext cx="785836" cy="1523748"/>
          </a:xfrm>
          <a:custGeom>
            <a:avLst/>
            <a:gdLst>
              <a:gd name="connsiteX0" fmla="*/ 783695 w 785836"/>
              <a:gd name="connsiteY0" fmla="*/ 249643 h 1523748"/>
              <a:gd name="connsiteX1" fmla="*/ 512625 w 785836"/>
              <a:gd name="connsiteY1" fmla="*/ 1455648 h 1523748"/>
              <a:gd name="connsiteX2" fmla="*/ 408419 w 785836"/>
              <a:gd name="connsiteY2" fmla="*/ 1521607 h 1523748"/>
              <a:gd name="connsiteX3" fmla="*/ 68100 w 785836"/>
              <a:gd name="connsiteY3" fmla="*/ 1445114 h 1523748"/>
              <a:gd name="connsiteX4" fmla="*/ 2141 w 785836"/>
              <a:gd name="connsiteY4" fmla="*/ 1340908 h 1523748"/>
              <a:gd name="connsiteX5" fmla="*/ 273211 w 785836"/>
              <a:gd name="connsiteY5" fmla="*/ 134903 h 1523748"/>
              <a:gd name="connsiteX6" fmla="*/ 377417 w 785836"/>
              <a:gd name="connsiteY6" fmla="*/ 68945 h 1523748"/>
              <a:gd name="connsiteX7" fmla="*/ 446441 w 785836"/>
              <a:gd name="connsiteY7" fmla="*/ 84459 h 1523748"/>
              <a:gd name="connsiteX8" fmla="*/ 494748 w 785836"/>
              <a:gd name="connsiteY8" fmla="*/ 0 h 1523748"/>
              <a:gd name="connsiteX9" fmla="*/ 557307 w 785836"/>
              <a:gd name="connsiteY9" fmla="*/ 109378 h 1523748"/>
              <a:gd name="connsiteX10" fmla="*/ 717737 w 785836"/>
              <a:gd name="connsiteY10" fmla="*/ 145438 h 1523748"/>
              <a:gd name="connsiteX11" fmla="*/ 783695 w 785836"/>
              <a:gd name="connsiteY11" fmla="*/ 249643 h 152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5836" h="1523748">
                <a:moveTo>
                  <a:pt x="783695" y="249643"/>
                </a:moveTo>
                <a:lnTo>
                  <a:pt x="512625" y="1455648"/>
                </a:lnTo>
                <a:cubicBezTo>
                  <a:pt x="502063" y="1502638"/>
                  <a:pt x="455409" y="1532168"/>
                  <a:pt x="408419" y="1521607"/>
                </a:cubicBezTo>
                <a:lnTo>
                  <a:pt x="68100" y="1445114"/>
                </a:lnTo>
                <a:cubicBezTo>
                  <a:pt x="21110" y="1434552"/>
                  <a:pt x="-8421" y="1387898"/>
                  <a:pt x="2141" y="1340908"/>
                </a:cubicBezTo>
                <a:lnTo>
                  <a:pt x="273211" y="134903"/>
                </a:lnTo>
                <a:cubicBezTo>
                  <a:pt x="283773" y="87914"/>
                  <a:pt x="330428" y="58383"/>
                  <a:pt x="377417" y="68945"/>
                </a:cubicBezTo>
                <a:lnTo>
                  <a:pt x="446441" y="84459"/>
                </a:lnTo>
                <a:lnTo>
                  <a:pt x="494748" y="0"/>
                </a:lnTo>
                <a:lnTo>
                  <a:pt x="557307" y="109378"/>
                </a:lnTo>
                <a:lnTo>
                  <a:pt x="717737" y="145438"/>
                </a:lnTo>
                <a:cubicBezTo>
                  <a:pt x="764726" y="155999"/>
                  <a:pt x="794257" y="202654"/>
                  <a:pt x="783695" y="249643"/>
                </a:cubicBezTo>
                <a:close/>
              </a:path>
            </a:pathLst>
          </a:custGeom>
          <a:solidFill>
            <a:srgbClr val="F2FBF3"/>
          </a:solidFill>
          <a:ln>
            <a:solidFill>
              <a:srgbClr val="87B9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99E9BAF-A5A9-5CDA-C2A2-3A83ED2E80C2}"/>
              </a:ext>
            </a:extLst>
          </p:cNvPr>
          <p:cNvSpPr txBox="1"/>
          <p:nvPr/>
        </p:nvSpPr>
        <p:spPr>
          <a:xfrm>
            <a:off x="10276837" y="1125004"/>
            <a:ext cx="1334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Consolidated or just a segment?</a:t>
            </a:r>
          </a:p>
        </p:txBody>
      </p:sp>
      <p:pic>
        <p:nvPicPr>
          <p:cNvPr id="167" name="Picture 166">
            <a:extLst>
              <a:ext uri="{FF2B5EF4-FFF2-40B4-BE49-F238E27FC236}">
                <a16:creationId xmlns:a16="http://schemas.microsoft.com/office/drawing/2014/main" id="{F6D7572C-4036-8DA8-0584-4DEF718C6A2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52053" y="1009178"/>
            <a:ext cx="224444" cy="237647"/>
          </a:xfrm>
          <a:prstGeom prst="rect">
            <a:avLst/>
          </a:prstGeom>
        </p:spPr>
      </p:pic>
      <p:sp>
        <p:nvSpPr>
          <p:cNvPr id="169" name="Freeform 168">
            <a:extLst>
              <a:ext uri="{FF2B5EF4-FFF2-40B4-BE49-F238E27FC236}">
                <a16:creationId xmlns:a16="http://schemas.microsoft.com/office/drawing/2014/main" id="{71914A2C-CCDF-DDBB-3A8A-49FAF76FACCC}"/>
              </a:ext>
            </a:extLst>
          </p:cNvPr>
          <p:cNvSpPr/>
          <p:nvPr/>
        </p:nvSpPr>
        <p:spPr>
          <a:xfrm rot="15439939">
            <a:off x="10528090" y="1364659"/>
            <a:ext cx="785836" cy="1523748"/>
          </a:xfrm>
          <a:custGeom>
            <a:avLst/>
            <a:gdLst>
              <a:gd name="connsiteX0" fmla="*/ 783695 w 785836"/>
              <a:gd name="connsiteY0" fmla="*/ 249643 h 1523748"/>
              <a:gd name="connsiteX1" fmla="*/ 512625 w 785836"/>
              <a:gd name="connsiteY1" fmla="*/ 1455648 h 1523748"/>
              <a:gd name="connsiteX2" fmla="*/ 408419 w 785836"/>
              <a:gd name="connsiteY2" fmla="*/ 1521607 h 1523748"/>
              <a:gd name="connsiteX3" fmla="*/ 68100 w 785836"/>
              <a:gd name="connsiteY3" fmla="*/ 1445114 h 1523748"/>
              <a:gd name="connsiteX4" fmla="*/ 2141 w 785836"/>
              <a:gd name="connsiteY4" fmla="*/ 1340908 h 1523748"/>
              <a:gd name="connsiteX5" fmla="*/ 273211 w 785836"/>
              <a:gd name="connsiteY5" fmla="*/ 134903 h 1523748"/>
              <a:gd name="connsiteX6" fmla="*/ 377417 w 785836"/>
              <a:gd name="connsiteY6" fmla="*/ 68945 h 1523748"/>
              <a:gd name="connsiteX7" fmla="*/ 446441 w 785836"/>
              <a:gd name="connsiteY7" fmla="*/ 84459 h 1523748"/>
              <a:gd name="connsiteX8" fmla="*/ 494748 w 785836"/>
              <a:gd name="connsiteY8" fmla="*/ 0 h 1523748"/>
              <a:gd name="connsiteX9" fmla="*/ 557307 w 785836"/>
              <a:gd name="connsiteY9" fmla="*/ 109378 h 1523748"/>
              <a:gd name="connsiteX10" fmla="*/ 717737 w 785836"/>
              <a:gd name="connsiteY10" fmla="*/ 145438 h 1523748"/>
              <a:gd name="connsiteX11" fmla="*/ 783695 w 785836"/>
              <a:gd name="connsiteY11" fmla="*/ 249643 h 152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5836" h="1523748">
                <a:moveTo>
                  <a:pt x="783695" y="249643"/>
                </a:moveTo>
                <a:lnTo>
                  <a:pt x="512625" y="1455648"/>
                </a:lnTo>
                <a:cubicBezTo>
                  <a:pt x="502063" y="1502638"/>
                  <a:pt x="455409" y="1532168"/>
                  <a:pt x="408419" y="1521607"/>
                </a:cubicBezTo>
                <a:lnTo>
                  <a:pt x="68100" y="1445114"/>
                </a:lnTo>
                <a:cubicBezTo>
                  <a:pt x="21110" y="1434552"/>
                  <a:pt x="-8421" y="1387898"/>
                  <a:pt x="2141" y="1340908"/>
                </a:cubicBezTo>
                <a:lnTo>
                  <a:pt x="273211" y="134903"/>
                </a:lnTo>
                <a:cubicBezTo>
                  <a:pt x="283773" y="87914"/>
                  <a:pt x="330428" y="58383"/>
                  <a:pt x="377417" y="68945"/>
                </a:cubicBezTo>
                <a:lnTo>
                  <a:pt x="446441" y="84459"/>
                </a:lnTo>
                <a:lnTo>
                  <a:pt x="494748" y="0"/>
                </a:lnTo>
                <a:lnTo>
                  <a:pt x="557307" y="109378"/>
                </a:lnTo>
                <a:lnTo>
                  <a:pt x="717737" y="145438"/>
                </a:lnTo>
                <a:cubicBezTo>
                  <a:pt x="764726" y="155999"/>
                  <a:pt x="794257" y="202654"/>
                  <a:pt x="783695" y="249643"/>
                </a:cubicBezTo>
                <a:close/>
              </a:path>
            </a:pathLst>
          </a:custGeom>
          <a:solidFill>
            <a:srgbClr val="E8F1FC"/>
          </a:solidFill>
          <a:ln>
            <a:solidFill>
              <a:srgbClr val="799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5027535-C4E4-D3EF-88CD-695A4A3604F8}"/>
              </a:ext>
            </a:extLst>
          </p:cNvPr>
          <p:cNvSpPr txBox="1"/>
          <p:nvPr/>
        </p:nvSpPr>
        <p:spPr>
          <a:xfrm>
            <a:off x="10199247" y="1882631"/>
            <a:ext cx="1485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We want consolidated.</a:t>
            </a:r>
          </a:p>
        </p:txBody>
      </p:sp>
      <p:pic>
        <p:nvPicPr>
          <p:cNvPr id="172" name="Picture 171">
            <a:extLst>
              <a:ext uri="{FF2B5EF4-FFF2-40B4-BE49-F238E27FC236}">
                <a16:creationId xmlns:a16="http://schemas.microsoft.com/office/drawing/2014/main" id="{50E3DC35-8433-9E32-9329-24195FF82BD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86351" y="1911910"/>
            <a:ext cx="433372" cy="491155"/>
          </a:xfrm>
          <a:prstGeom prst="rect">
            <a:avLst/>
          </a:prstGeom>
        </p:spPr>
      </p:pic>
      <p:pic>
        <p:nvPicPr>
          <p:cNvPr id="173" name="Picture 172">
            <a:extLst>
              <a:ext uri="{FF2B5EF4-FFF2-40B4-BE49-F238E27FC236}">
                <a16:creationId xmlns:a16="http://schemas.microsoft.com/office/drawing/2014/main" id="{5AB5BFFC-3077-F62D-7CBA-20A8E53A489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48067" y="2613205"/>
            <a:ext cx="533400" cy="508000"/>
          </a:xfrm>
          <a:prstGeom prst="rect">
            <a:avLst/>
          </a:prstGeom>
        </p:spPr>
      </p:pic>
      <p:sp>
        <p:nvSpPr>
          <p:cNvPr id="174" name="Freeform 173">
            <a:extLst>
              <a:ext uri="{FF2B5EF4-FFF2-40B4-BE49-F238E27FC236}">
                <a16:creationId xmlns:a16="http://schemas.microsoft.com/office/drawing/2014/main" id="{76624167-1618-BFF5-8C21-9AF92C4D261B}"/>
              </a:ext>
            </a:extLst>
          </p:cNvPr>
          <p:cNvSpPr/>
          <p:nvPr/>
        </p:nvSpPr>
        <p:spPr>
          <a:xfrm rot="15439939">
            <a:off x="10528092" y="2105331"/>
            <a:ext cx="785836" cy="1523748"/>
          </a:xfrm>
          <a:custGeom>
            <a:avLst/>
            <a:gdLst>
              <a:gd name="connsiteX0" fmla="*/ 783695 w 785836"/>
              <a:gd name="connsiteY0" fmla="*/ 249643 h 1523748"/>
              <a:gd name="connsiteX1" fmla="*/ 512625 w 785836"/>
              <a:gd name="connsiteY1" fmla="*/ 1455648 h 1523748"/>
              <a:gd name="connsiteX2" fmla="*/ 408419 w 785836"/>
              <a:gd name="connsiteY2" fmla="*/ 1521607 h 1523748"/>
              <a:gd name="connsiteX3" fmla="*/ 68100 w 785836"/>
              <a:gd name="connsiteY3" fmla="*/ 1445114 h 1523748"/>
              <a:gd name="connsiteX4" fmla="*/ 2141 w 785836"/>
              <a:gd name="connsiteY4" fmla="*/ 1340908 h 1523748"/>
              <a:gd name="connsiteX5" fmla="*/ 273211 w 785836"/>
              <a:gd name="connsiteY5" fmla="*/ 134903 h 1523748"/>
              <a:gd name="connsiteX6" fmla="*/ 377417 w 785836"/>
              <a:gd name="connsiteY6" fmla="*/ 68945 h 1523748"/>
              <a:gd name="connsiteX7" fmla="*/ 446441 w 785836"/>
              <a:gd name="connsiteY7" fmla="*/ 84459 h 1523748"/>
              <a:gd name="connsiteX8" fmla="*/ 494748 w 785836"/>
              <a:gd name="connsiteY8" fmla="*/ 0 h 1523748"/>
              <a:gd name="connsiteX9" fmla="*/ 557307 w 785836"/>
              <a:gd name="connsiteY9" fmla="*/ 109378 h 1523748"/>
              <a:gd name="connsiteX10" fmla="*/ 717737 w 785836"/>
              <a:gd name="connsiteY10" fmla="*/ 145438 h 1523748"/>
              <a:gd name="connsiteX11" fmla="*/ 783695 w 785836"/>
              <a:gd name="connsiteY11" fmla="*/ 249643 h 152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5836" h="1523748">
                <a:moveTo>
                  <a:pt x="783695" y="249643"/>
                </a:moveTo>
                <a:lnTo>
                  <a:pt x="512625" y="1455648"/>
                </a:lnTo>
                <a:cubicBezTo>
                  <a:pt x="502063" y="1502638"/>
                  <a:pt x="455409" y="1532168"/>
                  <a:pt x="408419" y="1521607"/>
                </a:cubicBezTo>
                <a:lnTo>
                  <a:pt x="68100" y="1445114"/>
                </a:lnTo>
                <a:cubicBezTo>
                  <a:pt x="21110" y="1434552"/>
                  <a:pt x="-8421" y="1387898"/>
                  <a:pt x="2141" y="1340908"/>
                </a:cubicBezTo>
                <a:lnTo>
                  <a:pt x="273211" y="134903"/>
                </a:lnTo>
                <a:cubicBezTo>
                  <a:pt x="283773" y="87914"/>
                  <a:pt x="330428" y="58383"/>
                  <a:pt x="377417" y="68945"/>
                </a:cubicBezTo>
                <a:lnTo>
                  <a:pt x="446441" y="84459"/>
                </a:lnTo>
                <a:lnTo>
                  <a:pt x="494748" y="0"/>
                </a:lnTo>
                <a:lnTo>
                  <a:pt x="557307" y="109378"/>
                </a:lnTo>
                <a:lnTo>
                  <a:pt x="717737" y="145438"/>
                </a:lnTo>
                <a:cubicBezTo>
                  <a:pt x="764726" y="155999"/>
                  <a:pt x="794257" y="202654"/>
                  <a:pt x="783695" y="249643"/>
                </a:cubicBezTo>
                <a:close/>
              </a:path>
            </a:pathLst>
          </a:custGeom>
          <a:solidFill>
            <a:srgbClr val="F2FBF3"/>
          </a:solidFill>
          <a:ln>
            <a:solidFill>
              <a:srgbClr val="87B9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AA44EE9-C2D1-0B3F-F0BD-9432CC44FF6A}"/>
              </a:ext>
            </a:extLst>
          </p:cNvPr>
          <p:cNvSpPr txBox="1"/>
          <p:nvPr/>
        </p:nvSpPr>
        <p:spPr>
          <a:xfrm>
            <a:off x="10534739" y="2714531"/>
            <a:ext cx="820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$46.75B</a:t>
            </a:r>
          </a:p>
        </p:txBody>
      </p:sp>
      <p:pic>
        <p:nvPicPr>
          <p:cNvPr id="177" name="Picture 176">
            <a:extLst>
              <a:ext uri="{FF2B5EF4-FFF2-40B4-BE49-F238E27FC236}">
                <a16:creationId xmlns:a16="http://schemas.microsoft.com/office/drawing/2014/main" id="{3F625DC1-B66C-68E7-2ECF-56B28973A6B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81782" y="2523949"/>
            <a:ext cx="202242" cy="226035"/>
          </a:xfrm>
          <a:prstGeom prst="rect">
            <a:avLst/>
          </a:prstGeom>
        </p:spPr>
      </p:pic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DCC83697-1DFE-980F-A87C-1529D1E07804}"/>
              </a:ext>
            </a:extLst>
          </p:cNvPr>
          <p:cNvSpPr/>
          <p:nvPr/>
        </p:nvSpPr>
        <p:spPr>
          <a:xfrm>
            <a:off x="9271550" y="3374991"/>
            <a:ext cx="2756610" cy="1361221"/>
          </a:xfrm>
          <a:prstGeom prst="roundRect">
            <a:avLst>
              <a:gd name="adj" fmla="val 5585"/>
            </a:avLst>
          </a:prstGeom>
          <a:solidFill>
            <a:srgbClr val="FDFDFD"/>
          </a:solidFill>
          <a:ln>
            <a:solidFill>
              <a:srgbClr val="C4C4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1" name="Picture 180">
            <a:extLst>
              <a:ext uri="{FF2B5EF4-FFF2-40B4-BE49-F238E27FC236}">
                <a16:creationId xmlns:a16="http://schemas.microsoft.com/office/drawing/2014/main" id="{0A8479BC-D40D-B879-CF24-EE5051FC923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90435" y="3392898"/>
            <a:ext cx="352039" cy="352039"/>
          </a:xfrm>
          <a:prstGeom prst="rect">
            <a:avLst/>
          </a:prstGeom>
        </p:spPr>
      </p:pic>
      <p:pic>
        <p:nvPicPr>
          <p:cNvPr id="184" name="Picture 183">
            <a:extLst>
              <a:ext uri="{FF2B5EF4-FFF2-40B4-BE49-F238E27FC236}">
                <a16:creationId xmlns:a16="http://schemas.microsoft.com/office/drawing/2014/main" id="{2C7190CD-34B5-A6F9-FED1-DAECABF0467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18701" y="3779775"/>
            <a:ext cx="314010" cy="330984"/>
          </a:xfrm>
          <a:prstGeom prst="rect">
            <a:avLst/>
          </a:prstGeom>
        </p:spPr>
      </p:pic>
      <p:sp>
        <p:nvSpPr>
          <p:cNvPr id="185" name="TextBox 184">
            <a:extLst>
              <a:ext uri="{FF2B5EF4-FFF2-40B4-BE49-F238E27FC236}">
                <a16:creationId xmlns:a16="http://schemas.microsoft.com/office/drawing/2014/main" id="{6A144EDB-D26F-324E-442F-0B69CEEFB2A6}"/>
              </a:ext>
            </a:extLst>
          </p:cNvPr>
          <p:cNvSpPr txBox="1"/>
          <p:nvPr/>
        </p:nvSpPr>
        <p:spPr>
          <a:xfrm>
            <a:off x="9535725" y="3405575"/>
            <a:ext cx="20437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Best free interaction: </a:t>
            </a:r>
            <a:r>
              <a:rPr lang="en-US" sz="1600" b="1" dirty="0">
                <a:solidFill>
                  <a:srgbClr val="001382"/>
                </a:solidFill>
              </a:rPr>
              <a:t>20.2%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2A5904E7-06F0-0920-B951-EF968C4DACDF}"/>
              </a:ext>
            </a:extLst>
          </p:cNvPr>
          <p:cNvSpPr txBox="1"/>
          <p:nvPr/>
        </p:nvSpPr>
        <p:spPr>
          <a:xfrm>
            <a:off x="9533029" y="3786353"/>
            <a:ext cx="26014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After resolving ambiguity: </a:t>
            </a:r>
            <a:r>
              <a:rPr lang="en-US" sz="1600" b="1" dirty="0">
                <a:solidFill>
                  <a:srgbClr val="007253"/>
                </a:solidFill>
              </a:rPr>
              <a:t>93 - 95%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44C8D077-0801-FEEE-03D2-398BAB0609B5}"/>
              </a:ext>
            </a:extLst>
          </p:cNvPr>
          <p:cNvSpPr txBox="1"/>
          <p:nvPr/>
        </p:nvSpPr>
        <p:spPr>
          <a:xfrm>
            <a:off x="9958723" y="4128440"/>
            <a:ext cx="1938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5A2C99"/>
                </a:solidFill>
              </a:rPr>
              <a:t>Bottleneck</a:t>
            </a:r>
            <a:r>
              <a:rPr lang="en-US" sz="1200" dirty="0"/>
              <a:t>: Follow up with correct clarification without missing knowledge</a:t>
            </a:r>
            <a:endParaRPr lang="en-US" sz="1600" dirty="0">
              <a:solidFill>
                <a:srgbClr val="007253"/>
              </a:solidFill>
            </a:endParaRPr>
          </a:p>
        </p:txBody>
      </p:sp>
      <p:pic>
        <p:nvPicPr>
          <p:cNvPr id="188" name="Picture 187">
            <a:extLst>
              <a:ext uri="{FF2B5EF4-FFF2-40B4-BE49-F238E27FC236}">
                <a16:creationId xmlns:a16="http://schemas.microsoft.com/office/drawing/2014/main" id="{C56D315D-0A5E-4F36-6762-CA6299A8B38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94747" y="4162929"/>
            <a:ext cx="535269" cy="566755"/>
          </a:xfrm>
          <a:prstGeom prst="rect">
            <a:avLst/>
          </a:prstGeom>
        </p:spPr>
      </p:pic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3EE6D87F-D0F4-727F-E8FF-730B0E5BD3CC}"/>
              </a:ext>
            </a:extLst>
          </p:cNvPr>
          <p:cNvCxnSpPr>
            <a:cxnSpLocks/>
          </p:cNvCxnSpPr>
          <p:nvPr/>
        </p:nvCxnSpPr>
        <p:spPr>
          <a:xfrm>
            <a:off x="9271550" y="3745163"/>
            <a:ext cx="2757600" cy="0"/>
          </a:xfrm>
          <a:prstGeom prst="line">
            <a:avLst/>
          </a:prstGeom>
          <a:ln w="12700">
            <a:solidFill>
              <a:srgbClr val="CCCC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77DAA7A7-4F4B-0B3E-AB25-3D2D20D38176}"/>
              </a:ext>
            </a:extLst>
          </p:cNvPr>
          <p:cNvCxnSpPr>
            <a:cxnSpLocks/>
          </p:cNvCxnSpPr>
          <p:nvPr/>
        </p:nvCxnSpPr>
        <p:spPr>
          <a:xfrm>
            <a:off x="9279788" y="4127235"/>
            <a:ext cx="2756610" cy="0"/>
          </a:xfrm>
          <a:prstGeom prst="line">
            <a:avLst/>
          </a:prstGeom>
          <a:ln w="12700">
            <a:solidFill>
              <a:srgbClr val="CCCC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319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9C26CC-87F9-2DA1-98F9-CEC0C0500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8971" y="28332"/>
            <a:ext cx="8996384" cy="50577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463BDA-0869-D617-A97D-40B071A29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2296" y="5139421"/>
            <a:ext cx="12410077" cy="69769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CB97B1-D9EC-7010-19F9-7EF945471990}"/>
              </a:ext>
            </a:extLst>
          </p:cNvPr>
          <p:cNvSpPr txBox="1"/>
          <p:nvPr/>
        </p:nvSpPr>
        <p:spPr>
          <a:xfrm>
            <a:off x="4557822" y="-53787"/>
            <a:ext cx="3076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00184E"/>
                </a:solidFill>
              </a:rPr>
              <a:t>FinInteract</a:t>
            </a:r>
            <a:r>
              <a:rPr lang="en-US" sz="2400" b="1" dirty="0">
                <a:solidFill>
                  <a:srgbClr val="00184E"/>
                </a:solidFill>
              </a:rPr>
              <a:t> Framework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55537B-4779-8E83-68F6-15E67227A2EF}"/>
              </a:ext>
            </a:extLst>
          </p:cNvPr>
          <p:cNvSpPr/>
          <p:nvPr/>
        </p:nvSpPr>
        <p:spPr>
          <a:xfrm>
            <a:off x="57493" y="387090"/>
            <a:ext cx="3605690" cy="4590000"/>
          </a:xfrm>
          <a:prstGeom prst="roundRect">
            <a:avLst>
              <a:gd name="adj" fmla="val 5585"/>
            </a:avLst>
          </a:prstGeom>
          <a:solidFill>
            <a:srgbClr val="FEFEFE"/>
          </a:solidFill>
          <a:ln>
            <a:solidFill>
              <a:srgbClr val="C2C2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8147B-651F-8A72-C46F-ABCB985B6047}"/>
              </a:ext>
            </a:extLst>
          </p:cNvPr>
          <p:cNvSpPr txBox="1"/>
          <p:nvPr/>
        </p:nvSpPr>
        <p:spPr>
          <a:xfrm>
            <a:off x="610046" y="503044"/>
            <a:ext cx="27505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6900" indent="-126900">
              <a:buAutoNum type="arabicPeriod"/>
            </a:pPr>
            <a:r>
              <a:rPr lang="en-US" sz="1400" b="1" dirty="0">
                <a:solidFill>
                  <a:srgbClr val="000366"/>
                </a:solidFill>
              </a:rPr>
              <a:t>Construct ambiguous instances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2F38EE-F326-8481-44D8-9F8261B8505E}"/>
              </a:ext>
            </a:extLst>
          </p:cNvPr>
          <p:cNvSpPr/>
          <p:nvPr/>
        </p:nvSpPr>
        <p:spPr>
          <a:xfrm>
            <a:off x="141345" y="490817"/>
            <a:ext cx="357809" cy="357809"/>
          </a:xfrm>
          <a:prstGeom prst="ellipse">
            <a:avLst/>
          </a:prstGeom>
          <a:solidFill>
            <a:srgbClr val="000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3B11943-947A-64E7-7295-616085ED0337}"/>
              </a:ext>
            </a:extLst>
          </p:cNvPr>
          <p:cNvGrpSpPr/>
          <p:nvPr/>
        </p:nvGrpSpPr>
        <p:grpSpPr>
          <a:xfrm>
            <a:off x="238722" y="728631"/>
            <a:ext cx="3359402" cy="1019191"/>
            <a:chOff x="238722" y="1142386"/>
            <a:chExt cx="3359402" cy="101919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86F08C9-6909-FA6D-A49F-E83886E4A409}"/>
                </a:ext>
              </a:extLst>
            </p:cNvPr>
            <p:cNvSpPr txBox="1"/>
            <p:nvPr/>
          </p:nvSpPr>
          <p:spPr>
            <a:xfrm>
              <a:off x="1322866" y="1142386"/>
              <a:ext cx="11207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15AA"/>
                  </a:solidFill>
                </a:rPr>
                <a:t>Data sources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AAF6E02-7450-8634-AB8D-DC8236F71BAA}"/>
                </a:ext>
              </a:extLst>
            </p:cNvPr>
            <p:cNvGrpSpPr/>
            <p:nvPr/>
          </p:nvGrpSpPr>
          <p:grpSpPr>
            <a:xfrm>
              <a:off x="238722" y="1381007"/>
              <a:ext cx="1490400" cy="780570"/>
              <a:chOff x="3257705" y="2017814"/>
              <a:chExt cx="1490400" cy="780570"/>
            </a:xfrm>
          </p:grpSpPr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F45505F3-2E9F-14AC-2319-407B7CF6D50D}"/>
                  </a:ext>
                </a:extLst>
              </p:cNvPr>
              <p:cNvSpPr/>
              <p:nvPr/>
            </p:nvSpPr>
            <p:spPr>
              <a:xfrm>
                <a:off x="3257705" y="2017814"/>
                <a:ext cx="1490400" cy="774000"/>
              </a:xfrm>
              <a:prstGeom prst="roundRect">
                <a:avLst>
                  <a:gd name="adj" fmla="val 5585"/>
                </a:avLst>
              </a:prstGeom>
              <a:solidFill>
                <a:srgbClr val="FEFEFE"/>
              </a:solidFill>
              <a:ln>
                <a:solidFill>
                  <a:srgbClr val="C2C2C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F4527BBD-C09E-C78E-735A-B8A724FC10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9430" y="2026411"/>
                <a:ext cx="546100" cy="546100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5A233A7-AC23-4BB5-15F7-5F8EC030B5EB}"/>
                  </a:ext>
                </a:extLst>
              </p:cNvPr>
              <p:cNvSpPr txBox="1"/>
              <p:nvPr/>
            </p:nvSpPr>
            <p:spPr>
              <a:xfrm>
                <a:off x="3406839" y="2521385"/>
                <a:ext cx="125128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SEC or EDGAR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179087E-3079-0848-418D-D20227EF8171}"/>
                </a:ext>
              </a:extLst>
            </p:cNvPr>
            <p:cNvGrpSpPr/>
            <p:nvPr/>
          </p:nvGrpSpPr>
          <p:grpSpPr>
            <a:xfrm>
              <a:off x="1910351" y="1373298"/>
              <a:ext cx="1687773" cy="775130"/>
              <a:chOff x="5014971" y="2017814"/>
              <a:chExt cx="1687773" cy="775130"/>
            </a:xfrm>
          </p:grpSpPr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9A9A7493-0970-57B8-BFEF-E5467A9B478A}"/>
                  </a:ext>
                </a:extLst>
              </p:cNvPr>
              <p:cNvSpPr/>
              <p:nvPr/>
            </p:nvSpPr>
            <p:spPr>
              <a:xfrm>
                <a:off x="5107965" y="2017814"/>
                <a:ext cx="1490085" cy="775130"/>
              </a:xfrm>
              <a:prstGeom prst="roundRect">
                <a:avLst>
                  <a:gd name="adj" fmla="val 5585"/>
                </a:avLst>
              </a:prstGeom>
              <a:solidFill>
                <a:srgbClr val="FEFEFE"/>
              </a:solidFill>
              <a:ln>
                <a:solidFill>
                  <a:srgbClr val="C2C2C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013E58-BDF5-1019-3B14-48694D54D2E3}"/>
                  </a:ext>
                </a:extLst>
              </p:cNvPr>
              <p:cNvSpPr txBox="1"/>
              <p:nvPr/>
            </p:nvSpPr>
            <p:spPr>
              <a:xfrm>
                <a:off x="5014971" y="2515945"/>
                <a:ext cx="16877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A-share annual reports</a:t>
                </a:r>
              </a:p>
            </p:txBody>
          </p: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5D2E0B07-F09D-7035-37DE-A26BAB8E7D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55482" y="2060867"/>
                <a:ext cx="406400" cy="495300"/>
              </a:xfrm>
              <a:prstGeom prst="rect">
                <a:avLst/>
              </a:prstGeom>
            </p:spPr>
          </p:pic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95C5564-63A2-CE46-8EE3-3BBB7FDE1DD0}"/>
              </a:ext>
            </a:extLst>
          </p:cNvPr>
          <p:cNvGrpSpPr/>
          <p:nvPr/>
        </p:nvGrpSpPr>
        <p:grpSpPr>
          <a:xfrm>
            <a:off x="647230" y="1849297"/>
            <a:ext cx="2377761" cy="1626023"/>
            <a:chOff x="4201114" y="2557219"/>
            <a:chExt cx="2377761" cy="1626023"/>
          </a:xfrm>
        </p:grpSpPr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3B226F67-8EED-5648-2ADF-D49EFC6EC2B7}"/>
                </a:ext>
              </a:extLst>
            </p:cNvPr>
            <p:cNvSpPr/>
            <p:nvPr/>
          </p:nvSpPr>
          <p:spPr>
            <a:xfrm>
              <a:off x="4201114" y="2557219"/>
              <a:ext cx="2377761" cy="1626023"/>
            </a:xfrm>
            <a:prstGeom prst="roundRect">
              <a:avLst>
                <a:gd name="adj" fmla="val 5585"/>
              </a:avLst>
            </a:prstGeom>
            <a:solidFill>
              <a:srgbClr val="F3F7FC"/>
            </a:solidFill>
            <a:ln>
              <a:solidFill>
                <a:srgbClr val="A5BA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97F5966-B6D5-E82A-0B18-34C6E7D1041C}"/>
                </a:ext>
              </a:extLst>
            </p:cNvPr>
            <p:cNvSpPr txBox="1"/>
            <p:nvPr/>
          </p:nvSpPr>
          <p:spPr>
            <a:xfrm>
              <a:off x="4578805" y="2557220"/>
              <a:ext cx="16207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solidFill>
                    <a:srgbClr val="002AC3"/>
                  </a:solidFill>
                </a:rPr>
                <a:t>FinInteract</a:t>
              </a:r>
              <a:r>
                <a:rPr lang="en-US" sz="1400" dirty="0">
                  <a:solidFill>
                    <a:srgbClr val="002AC3"/>
                  </a:solidFill>
                </a:rPr>
                <a:t> instance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23EB3DB-8008-9B66-BB80-7FB31B741145}"/>
                </a:ext>
              </a:extLst>
            </p:cNvPr>
            <p:cNvGrpSpPr/>
            <p:nvPr/>
          </p:nvGrpSpPr>
          <p:grpSpPr>
            <a:xfrm>
              <a:off x="4359008" y="2830120"/>
              <a:ext cx="2151128" cy="328675"/>
              <a:chOff x="7265140" y="2810619"/>
              <a:chExt cx="2151128" cy="328675"/>
            </a:xfrm>
          </p:grpSpPr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88415D96-366A-0E1B-BBEB-E100AB6390EA}"/>
                  </a:ext>
                </a:extLst>
              </p:cNvPr>
              <p:cNvSpPr/>
              <p:nvPr/>
            </p:nvSpPr>
            <p:spPr>
              <a:xfrm>
                <a:off x="7265140" y="2810619"/>
                <a:ext cx="2060316" cy="325062"/>
              </a:xfrm>
              <a:prstGeom prst="roundRect">
                <a:avLst>
                  <a:gd name="adj" fmla="val 5585"/>
                </a:avLst>
              </a:prstGeom>
              <a:solidFill>
                <a:srgbClr val="F7FAFC"/>
              </a:solidFill>
              <a:ln>
                <a:solidFill>
                  <a:srgbClr val="D5D6D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F740A6EB-EA8D-5B5C-6BA2-E80384367F66}"/>
                  </a:ext>
                </a:extLst>
              </p:cNvPr>
              <p:cNvSpPr/>
              <p:nvPr/>
            </p:nvSpPr>
            <p:spPr>
              <a:xfrm>
                <a:off x="7265141" y="2814232"/>
                <a:ext cx="210747" cy="325062"/>
              </a:xfrm>
              <a:prstGeom prst="roundRect">
                <a:avLst>
                  <a:gd name="adj" fmla="val 5585"/>
                </a:avLst>
              </a:prstGeom>
              <a:solidFill>
                <a:srgbClr val="F7FAFC"/>
              </a:solidFill>
              <a:ln>
                <a:solidFill>
                  <a:srgbClr val="D5D6D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rgbClr val="002CAD"/>
                    </a:solidFill>
                  </a:rPr>
                  <a:t>Q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EB3C06C-BC0F-6713-1794-29F0DA87E8F5}"/>
                  </a:ext>
                </a:extLst>
              </p:cNvPr>
              <p:cNvSpPr txBox="1"/>
              <p:nvPr/>
            </p:nvSpPr>
            <p:spPr>
              <a:xfrm>
                <a:off x="7402703" y="2844070"/>
                <a:ext cx="20135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Ambiguous financial question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DA93A47-4313-76ED-9353-CC121C0BE051}"/>
                </a:ext>
              </a:extLst>
            </p:cNvPr>
            <p:cNvGrpSpPr/>
            <p:nvPr/>
          </p:nvGrpSpPr>
          <p:grpSpPr>
            <a:xfrm>
              <a:off x="4359008" y="3162408"/>
              <a:ext cx="2060316" cy="328675"/>
              <a:chOff x="7265140" y="2810619"/>
              <a:chExt cx="2060316" cy="328675"/>
            </a:xfrm>
          </p:grpSpPr>
          <p:sp>
            <p:nvSpPr>
              <p:cNvPr id="46" name="Rounded Rectangle 45">
                <a:extLst>
                  <a:ext uri="{FF2B5EF4-FFF2-40B4-BE49-F238E27FC236}">
                    <a16:creationId xmlns:a16="http://schemas.microsoft.com/office/drawing/2014/main" id="{372BF307-D1C3-A600-DC6B-9F3CDA8FBDFD}"/>
                  </a:ext>
                </a:extLst>
              </p:cNvPr>
              <p:cNvSpPr/>
              <p:nvPr/>
            </p:nvSpPr>
            <p:spPr>
              <a:xfrm>
                <a:off x="7265140" y="2810619"/>
                <a:ext cx="2060316" cy="325062"/>
              </a:xfrm>
              <a:prstGeom prst="roundRect">
                <a:avLst>
                  <a:gd name="adj" fmla="val 5585"/>
                </a:avLst>
              </a:prstGeom>
              <a:solidFill>
                <a:srgbClr val="F7FAFC"/>
              </a:solidFill>
              <a:ln>
                <a:solidFill>
                  <a:srgbClr val="D5D6D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EC8F66F7-AB28-B22B-1006-FCC8FAC25026}"/>
                  </a:ext>
                </a:extLst>
              </p:cNvPr>
              <p:cNvSpPr/>
              <p:nvPr/>
            </p:nvSpPr>
            <p:spPr>
              <a:xfrm>
                <a:off x="7265141" y="2814232"/>
                <a:ext cx="210747" cy="325062"/>
              </a:xfrm>
              <a:prstGeom prst="roundRect">
                <a:avLst>
                  <a:gd name="adj" fmla="val 5585"/>
                </a:avLst>
              </a:prstGeom>
              <a:solidFill>
                <a:srgbClr val="F7FAFC"/>
              </a:solidFill>
              <a:ln>
                <a:solidFill>
                  <a:srgbClr val="D5D6D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rgbClr val="12601A"/>
                    </a:solidFill>
                  </a:rPr>
                  <a:t>C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0256F22-1159-77F9-2B70-CEA4B57B653F}"/>
                  </a:ext>
                </a:extLst>
              </p:cNvPr>
              <p:cNvSpPr txBox="1"/>
              <p:nvPr/>
            </p:nvSpPr>
            <p:spPr>
              <a:xfrm>
                <a:off x="7402703" y="2844070"/>
                <a:ext cx="16550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Disambiguating context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9A75513-D55D-8E52-CF9D-6BCD86D2AABA}"/>
                </a:ext>
              </a:extLst>
            </p:cNvPr>
            <p:cNvGrpSpPr/>
            <p:nvPr/>
          </p:nvGrpSpPr>
          <p:grpSpPr>
            <a:xfrm>
              <a:off x="4359008" y="3490510"/>
              <a:ext cx="2060316" cy="328675"/>
              <a:chOff x="7265140" y="2810619"/>
              <a:chExt cx="2060316" cy="328675"/>
            </a:xfrm>
          </p:grpSpPr>
          <p:sp>
            <p:nvSpPr>
              <p:cNvPr id="50" name="Rounded Rectangle 49">
                <a:extLst>
                  <a:ext uri="{FF2B5EF4-FFF2-40B4-BE49-F238E27FC236}">
                    <a16:creationId xmlns:a16="http://schemas.microsoft.com/office/drawing/2014/main" id="{A84D435C-474F-DCFC-54C6-6C331E8EC1E9}"/>
                  </a:ext>
                </a:extLst>
              </p:cNvPr>
              <p:cNvSpPr/>
              <p:nvPr/>
            </p:nvSpPr>
            <p:spPr>
              <a:xfrm>
                <a:off x="7265140" y="2810619"/>
                <a:ext cx="2060316" cy="325062"/>
              </a:xfrm>
              <a:prstGeom prst="roundRect">
                <a:avLst>
                  <a:gd name="adj" fmla="val 5585"/>
                </a:avLst>
              </a:prstGeom>
              <a:solidFill>
                <a:srgbClr val="F7FAFC"/>
              </a:solidFill>
              <a:ln>
                <a:solidFill>
                  <a:srgbClr val="D5D6D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1034ABE5-8D90-64B1-205A-8903AB33C972}"/>
                  </a:ext>
                </a:extLst>
              </p:cNvPr>
              <p:cNvSpPr/>
              <p:nvPr/>
            </p:nvSpPr>
            <p:spPr>
              <a:xfrm>
                <a:off x="7265141" y="2814232"/>
                <a:ext cx="210747" cy="325062"/>
              </a:xfrm>
              <a:prstGeom prst="roundRect">
                <a:avLst>
                  <a:gd name="adj" fmla="val 5585"/>
                </a:avLst>
              </a:prstGeom>
              <a:solidFill>
                <a:srgbClr val="F7FAFC"/>
              </a:solidFill>
              <a:ln>
                <a:solidFill>
                  <a:srgbClr val="D5D6D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rgbClr val="0248C9"/>
                    </a:solidFill>
                  </a:rPr>
                  <a:t>A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111BF41-279F-46EF-6AAE-8BB47DCE0622}"/>
                  </a:ext>
                </a:extLst>
              </p:cNvPr>
              <p:cNvSpPr txBox="1"/>
              <p:nvPr/>
            </p:nvSpPr>
            <p:spPr>
              <a:xfrm>
                <a:off x="7402703" y="2844070"/>
                <a:ext cx="12342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Intended answer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C9549BA-D92B-2805-FC47-458DA01A9438}"/>
                </a:ext>
              </a:extLst>
            </p:cNvPr>
            <p:cNvGrpSpPr/>
            <p:nvPr/>
          </p:nvGrpSpPr>
          <p:grpSpPr>
            <a:xfrm>
              <a:off x="4359008" y="3802722"/>
              <a:ext cx="2060316" cy="328675"/>
              <a:chOff x="7265140" y="2810619"/>
              <a:chExt cx="2060316" cy="328675"/>
            </a:xfrm>
          </p:grpSpPr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E5AA3821-463D-1141-3AA6-F8489F9DBB1D}"/>
                  </a:ext>
                </a:extLst>
              </p:cNvPr>
              <p:cNvSpPr/>
              <p:nvPr/>
            </p:nvSpPr>
            <p:spPr>
              <a:xfrm>
                <a:off x="7265140" y="2810619"/>
                <a:ext cx="2060316" cy="325062"/>
              </a:xfrm>
              <a:prstGeom prst="roundRect">
                <a:avLst>
                  <a:gd name="adj" fmla="val 5585"/>
                </a:avLst>
              </a:prstGeom>
              <a:solidFill>
                <a:srgbClr val="F7FAFC"/>
              </a:solidFill>
              <a:ln>
                <a:solidFill>
                  <a:srgbClr val="D5D6D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C665A417-A2CB-03E2-AC14-E0288C6F93F9}"/>
                  </a:ext>
                </a:extLst>
              </p:cNvPr>
              <p:cNvSpPr/>
              <p:nvPr/>
            </p:nvSpPr>
            <p:spPr>
              <a:xfrm>
                <a:off x="7265141" y="2814232"/>
                <a:ext cx="210747" cy="325062"/>
              </a:xfrm>
              <a:prstGeom prst="roundRect">
                <a:avLst>
                  <a:gd name="adj" fmla="val 5585"/>
                </a:avLst>
              </a:prstGeom>
              <a:solidFill>
                <a:srgbClr val="F7FAFC"/>
              </a:solidFill>
              <a:ln>
                <a:solidFill>
                  <a:srgbClr val="D5D6D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rgbClr val="B41213"/>
                    </a:solidFill>
                  </a:rPr>
                  <a:t>D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022EA86-014D-625B-B99E-221BEA174FDB}"/>
                  </a:ext>
                </a:extLst>
              </p:cNvPr>
              <p:cNvSpPr txBox="1"/>
              <p:nvPr/>
            </p:nvSpPr>
            <p:spPr>
              <a:xfrm>
                <a:off x="7402703" y="2844070"/>
                <a:ext cx="11271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Default answer</a:t>
                </a:r>
              </a:p>
            </p:txBody>
          </p:sp>
        </p:grp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C6FAB11B-18AA-AD30-9FC6-453F2D24128D}"/>
              </a:ext>
            </a:extLst>
          </p:cNvPr>
          <p:cNvGrpSpPr/>
          <p:nvPr/>
        </p:nvGrpSpPr>
        <p:grpSpPr>
          <a:xfrm>
            <a:off x="116383" y="3548291"/>
            <a:ext cx="3589891" cy="948748"/>
            <a:chOff x="116383" y="3677028"/>
            <a:chExt cx="3589891" cy="948748"/>
          </a:xfrm>
        </p:grpSpPr>
        <p:sp>
          <p:nvSpPr>
            <p:cNvPr id="107" name="Rounded Rectangle 106">
              <a:extLst>
                <a:ext uri="{FF2B5EF4-FFF2-40B4-BE49-F238E27FC236}">
                  <a16:creationId xmlns:a16="http://schemas.microsoft.com/office/drawing/2014/main" id="{8D9A7B5A-E88D-64C0-B7F9-9EEA17530D7C}"/>
                </a:ext>
              </a:extLst>
            </p:cNvPr>
            <p:cNvSpPr/>
            <p:nvPr/>
          </p:nvSpPr>
          <p:spPr>
            <a:xfrm>
              <a:off x="116383" y="3790606"/>
              <a:ext cx="3510000" cy="835170"/>
            </a:xfrm>
            <a:prstGeom prst="roundRect">
              <a:avLst>
                <a:gd name="adj" fmla="val 14089"/>
              </a:avLst>
            </a:prstGeom>
            <a:solidFill>
              <a:srgbClr val="FEFEFE"/>
            </a:solidFill>
            <a:ln>
              <a:solidFill>
                <a:srgbClr val="C2C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A5150F88-94B9-F3DF-2585-EC612A7DAA16}"/>
                </a:ext>
              </a:extLst>
            </p:cNvPr>
            <p:cNvGrpSpPr/>
            <p:nvPr/>
          </p:nvGrpSpPr>
          <p:grpSpPr>
            <a:xfrm>
              <a:off x="155023" y="3892146"/>
              <a:ext cx="3551251" cy="709768"/>
              <a:chOff x="6749257" y="1699406"/>
              <a:chExt cx="3551251" cy="709768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72ED2138-85E5-95E2-236A-5329F14B077A}"/>
                  </a:ext>
                </a:extLst>
              </p:cNvPr>
              <p:cNvGrpSpPr/>
              <p:nvPr/>
            </p:nvGrpSpPr>
            <p:grpSpPr>
              <a:xfrm>
                <a:off x="6749257" y="1699406"/>
                <a:ext cx="658800" cy="688178"/>
                <a:chOff x="6749257" y="1699406"/>
                <a:chExt cx="658800" cy="688178"/>
              </a:xfrm>
            </p:grpSpPr>
            <p:sp>
              <p:nvSpPr>
                <p:cNvPr id="127" name="Rounded Rectangle 126">
                  <a:extLst>
                    <a:ext uri="{FF2B5EF4-FFF2-40B4-BE49-F238E27FC236}">
                      <a16:creationId xmlns:a16="http://schemas.microsoft.com/office/drawing/2014/main" id="{FB2B8149-96C4-D4F1-5F74-7D9BAF05E555}"/>
                    </a:ext>
                  </a:extLst>
                </p:cNvPr>
                <p:cNvSpPr/>
                <p:nvPr/>
              </p:nvSpPr>
              <p:spPr>
                <a:xfrm>
                  <a:off x="6749257" y="1699406"/>
                  <a:ext cx="658800" cy="641072"/>
                </a:xfrm>
                <a:prstGeom prst="roundRect">
                  <a:avLst>
                    <a:gd name="adj" fmla="val 27106"/>
                  </a:avLst>
                </a:prstGeom>
                <a:solidFill>
                  <a:srgbClr val="FEFEFE"/>
                </a:solidFill>
                <a:ln>
                  <a:solidFill>
                    <a:srgbClr val="8FA6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6E4557B2-9065-C6DB-0D31-035A2C7D1889}"/>
                    </a:ext>
                  </a:extLst>
                </p:cNvPr>
                <p:cNvSpPr txBox="1"/>
                <p:nvPr/>
              </p:nvSpPr>
              <p:spPr>
                <a:xfrm>
                  <a:off x="6775299" y="1925919"/>
                  <a:ext cx="61676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Entity scope</a:t>
                  </a:r>
                </a:p>
              </p:txBody>
            </p:sp>
            <p:pic>
              <p:nvPicPr>
                <p:cNvPr id="129" name="Picture 128">
                  <a:extLst>
                    <a:ext uri="{FF2B5EF4-FFF2-40B4-BE49-F238E27FC236}">
                      <a16:creationId xmlns:a16="http://schemas.microsoft.com/office/drawing/2014/main" id="{D8245453-AEB7-34DE-47C3-F4078BDC24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01956" y="1737644"/>
                  <a:ext cx="350241" cy="249060"/>
                </a:xfrm>
                <a:prstGeom prst="rect">
                  <a:avLst/>
                </a:prstGeom>
              </p:spPr>
            </p:pic>
          </p:grp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261CD87B-3CBA-9F02-4430-A844BECB5D3C}"/>
                  </a:ext>
                </a:extLst>
              </p:cNvPr>
              <p:cNvGrpSpPr/>
              <p:nvPr/>
            </p:nvGrpSpPr>
            <p:grpSpPr>
              <a:xfrm>
                <a:off x="7293433" y="1699406"/>
                <a:ext cx="930794" cy="679537"/>
                <a:chOff x="7363105" y="1699406"/>
                <a:chExt cx="930794" cy="679537"/>
              </a:xfrm>
            </p:grpSpPr>
            <p:sp>
              <p:nvSpPr>
                <p:cNvPr id="124" name="Rounded Rectangle 123">
                  <a:extLst>
                    <a:ext uri="{FF2B5EF4-FFF2-40B4-BE49-F238E27FC236}">
                      <a16:creationId xmlns:a16="http://schemas.microsoft.com/office/drawing/2014/main" id="{7BBC21EB-24CA-3357-0E47-678D1092BCA6}"/>
                    </a:ext>
                  </a:extLst>
                </p:cNvPr>
                <p:cNvSpPr/>
                <p:nvPr/>
              </p:nvSpPr>
              <p:spPr>
                <a:xfrm>
                  <a:off x="7497537" y="1699406"/>
                  <a:ext cx="657289" cy="641072"/>
                </a:xfrm>
                <a:prstGeom prst="roundRect">
                  <a:avLst>
                    <a:gd name="adj" fmla="val 27106"/>
                  </a:avLst>
                </a:prstGeom>
                <a:solidFill>
                  <a:srgbClr val="FEFEFE"/>
                </a:solidFill>
                <a:ln>
                  <a:solidFill>
                    <a:srgbClr val="8FA6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EA5591BE-0C71-6DB1-210D-1760305F11AD}"/>
                    </a:ext>
                  </a:extLst>
                </p:cNvPr>
                <p:cNvSpPr txBox="1"/>
                <p:nvPr/>
              </p:nvSpPr>
              <p:spPr>
                <a:xfrm>
                  <a:off x="7363105" y="1948056"/>
                  <a:ext cx="93079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Metric definition</a:t>
                  </a:r>
                </a:p>
              </p:txBody>
            </p:sp>
            <p:pic>
              <p:nvPicPr>
                <p:cNvPr id="126" name="Picture 125">
                  <a:extLst>
                    <a:ext uri="{FF2B5EF4-FFF2-40B4-BE49-F238E27FC236}">
                      <a16:creationId xmlns:a16="http://schemas.microsoft.com/office/drawing/2014/main" id="{F6D1C35F-AC7D-3E96-A324-7D335B9F19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88364" y="1722560"/>
                  <a:ext cx="278143" cy="298746"/>
                </a:xfrm>
                <a:prstGeom prst="rect">
                  <a:avLst/>
                </a:prstGeom>
              </p:spPr>
            </p:pic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E641DE75-4756-C884-657D-B425AC2CC44E}"/>
                  </a:ext>
                </a:extLst>
              </p:cNvPr>
              <p:cNvGrpSpPr/>
              <p:nvPr/>
            </p:nvGrpSpPr>
            <p:grpSpPr>
              <a:xfrm>
                <a:off x="9369714" y="1699406"/>
                <a:ext cx="930794" cy="660182"/>
                <a:chOff x="9886280" y="1699406"/>
                <a:chExt cx="930794" cy="660182"/>
              </a:xfrm>
            </p:grpSpPr>
            <p:sp>
              <p:nvSpPr>
                <p:cNvPr id="121" name="Rounded Rectangle 120">
                  <a:extLst>
                    <a:ext uri="{FF2B5EF4-FFF2-40B4-BE49-F238E27FC236}">
                      <a16:creationId xmlns:a16="http://schemas.microsoft.com/office/drawing/2014/main" id="{6994C143-B031-849C-1D9E-D82E6421E8D9}"/>
                    </a:ext>
                  </a:extLst>
                </p:cNvPr>
                <p:cNvSpPr/>
                <p:nvPr/>
              </p:nvSpPr>
              <p:spPr>
                <a:xfrm>
                  <a:off x="10016350" y="1699406"/>
                  <a:ext cx="680400" cy="641072"/>
                </a:xfrm>
                <a:prstGeom prst="roundRect">
                  <a:avLst>
                    <a:gd name="adj" fmla="val 27106"/>
                  </a:avLst>
                </a:prstGeom>
                <a:solidFill>
                  <a:srgbClr val="FEFEFE"/>
                </a:solidFill>
                <a:ln>
                  <a:solidFill>
                    <a:srgbClr val="8FA6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22" name="Picture 121">
                  <a:extLst>
                    <a:ext uri="{FF2B5EF4-FFF2-40B4-BE49-F238E27FC236}">
                      <a16:creationId xmlns:a16="http://schemas.microsoft.com/office/drawing/2014/main" id="{9EA0AABB-7D1C-58D9-D0CB-139E9498CB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87760" y="1714551"/>
                  <a:ext cx="326761" cy="306338"/>
                </a:xfrm>
                <a:prstGeom prst="rect">
                  <a:avLst/>
                </a:prstGeom>
              </p:spPr>
            </p:pic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59730B3C-A0C9-8060-99B0-657986B8ABF6}"/>
                    </a:ext>
                  </a:extLst>
                </p:cNvPr>
                <p:cNvSpPr txBox="1"/>
                <p:nvPr/>
              </p:nvSpPr>
              <p:spPr>
                <a:xfrm>
                  <a:off x="9886280" y="1959478"/>
                  <a:ext cx="9307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dirty="0"/>
                    <a:t>Recognition policy</a:t>
                  </a:r>
                </a:p>
              </p:txBody>
            </p:sp>
          </p:grp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F1F2EE3A-DE28-60CD-D7A7-7C4377693830}"/>
                  </a:ext>
                </a:extLst>
              </p:cNvPr>
              <p:cNvGrpSpPr/>
              <p:nvPr/>
            </p:nvGrpSpPr>
            <p:grpSpPr>
              <a:xfrm>
                <a:off x="8676847" y="1699406"/>
                <a:ext cx="930794" cy="707977"/>
                <a:chOff x="9035477" y="1699407"/>
                <a:chExt cx="930794" cy="707977"/>
              </a:xfrm>
            </p:grpSpPr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90EF5496-AB85-06FB-8E6A-03E97BE05585}"/>
                    </a:ext>
                  </a:extLst>
                </p:cNvPr>
                <p:cNvGrpSpPr/>
                <p:nvPr/>
              </p:nvGrpSpPr>
              <p:grpSpPr>
                <a:xfrm>
                  <a:off x="9161290" y="1699407"/>
                  <a:ext cx="680400" cy="641072"/>
                  <a:chOff x="9161290" y="1699407"/>
                  <a:chExt cx="680400" cy="641072"/>
                </a:xfrm>
              </p:grpSpPr>
              <p:sp>
                <p:nvSpPr>
                  <p:cNvPr id="119" name="Rounded Rectangle 118">
                    <a:extLst>
                      <a:ext uri="{FF2B5EF4-FFF2-40B4-BE49-F238E27FC236}">
                        <a16:creationId xmlns:a16="http://schemas.microsoft.com/office/drawing/2014/main" id="{CD54A7EC-0E37-C756-F7F3-640C929F3718}"/>
                      </a:ext>
                    </a:extLst>
                  </p:cNvPr>
                  <p:cNvSpPr/>
                  <p:nvPr/>
                </p:nvSpPr>
                <p:spPr>
                  <a:xfrm>
                    <a:off x="9161290" y="1699407"/>
                    <a:ext cx="680400" cy="641072"/>
                  </a:xfrm>
                  <a:prstGeom prst="roundRect">
                    <a:avLst>
                      <a:gd name="adj" fmla="val 27106"/>
                    </a:avLst>
                  </a:prstGeom>
                  <a:solidFill>
                    <a:srgbClr val="FEFEFE"/>
                  </a:solidFill>
                  <a:ln>
                    <a:solidFill>
                      <a:srgbClr val="8FA6D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 dirty="0">
                      <a:solidFill>
                        <a:schemeClr val="tx1"/>
                      </a:solidFill>
                    </a:endParaRPr>
                  </a:p>
                </p:txBody>
              </p:sp>
              <p:pic>
                <p:nvPicPr>
                  <p:cNvPr id="120" name="Picture 119">
                    <a:extLst>
                      <a:ext uri="{FF2B5EF4-FFF2-40B4-BE49-F238E27FC236}">
                        <a16:creationId xmlns:a16="http://schemas.microsoft.com/office/drawing/2014/main" id="{AE7C67D4-6D3C-D455-1D35-E7F80106FF4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9372538" y="1716772"/>
                    <a:ext cx="237867" cy="305829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0095EF0-2F31-BFE8-E0B8-392DE910757C}"/>
                    </a:ext>
                  </a:extLst>
                </p:cNvPr>
                <p:cNvSpPr txBox="1"/>
                <p:nvPr/>
              </p:nvSpPr>
              <p:spPr>
                <a:xfrm>
                  <a:off x="9035477" y="1945719"/>
                  <a:ext cx="93079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Filing vintage</a:t>
                  </a:r>
                </a:p>
              </p:txBody>
            </p:sp>
          </p:grp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F86239BE-F498-5D1C-8D1C-5079F3A56E40}"/>
                  </a:ext>
                </a:extLst>
              </p:cNvPr>
              <p:cNvGrpSpPr/>
              <p:nvPr/>
            </p:nvGrpSpPr>
            <p:grpSpPr>
              <a:xfrm>
                <a:off x="7983980" y="1699406"/>
                <a:ext cx="930794" cy="709768"/>
                <a:chOff x="8185399" y="1699406"/>
                <a:chExt cx="930794" cy="709768"/>
              </a:xfrm>
            </p:grpSpPr>
            <p:sp>
              <p:nvSpPr>
                <p:cNvPr id="114" name="Rounded Rectangle 113">
                  <a:extLst>
                    <a:ext uri="{FF2B5EF4-FFF2-40B4-BE49-F238E27FC236}">
                      <a16:creationId xmlns:a16="http://schemas.microsoft.com/office/drawing/2014/main" id="{FCE10884-13AA-DABC-D3EE-9CF6B13DD9EF}"/>
                    </a:ext>
                  </a:extLst>
                </p:cNvPr>
                <p:cNvSpPr/>
                <p:nvPr/>
              </p:nvSpPr>
              <p:spPr>
                <a:xfrm>
                  <a:off x="8306501" y="1699406"/>
                  <a:ext cx="680400" cy="641072"/>
                </a:xfrm>
                <a:prstGeom prst="roundRect">
                  <a:avLst>
                    <a:gd name="adj" fmla="val 27106"/>
                  </a:avLst>
                </a:prstGeom>
                <a:solidFill>
                  <a:srgbClr val="FEFEFE"/>
                </a:solidFill>
                <a:ln>
                  <a:solidFill>
                    <a:srgbClr val="8FA6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9ABF2B81-6063-0B35-823A-F30D1A8E7AF6}"/>
                    </a:ext>
                  </a:extLst>
                </p:cNvPr>
                <p:cNvSpPr txBox="1"/>
                <p:nvPr/>
              </p:nvSpPr>
              <p:spPr>
                <a:xfrm>
                  <a:off x="8185399" y="1947509"/>
                  <a:ext cx="93079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Temporal scope</a:t>
                  </a:r>
                </a:p>
              </p:txBody>
            </p:sp>
            <p:pic>
              <p:nvPicPr>
                <p:cNvPr id="116" name="Picture 115">
                  <a:extLst>
                    <a:ext uri="{FF2B5EF4-FFF2-40B4-BE49-F238E27FC236}">
                      <a16:creationId xmlns:a16="http://schemas.microsoft.com/office/drawing/2014/main" id="{1EB38148-D1C1-4089-6B69-ADB144B746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11355" y="1734410"/>
                  <a:ext cx="256654" cy="282320"/>
                </a:xfrm>
                <a:prstGeom prst="rect">
                  <a:avLst/>
                </a:prstGeom>
              </p:spPr>
            </p:pic>
          </p:grpSp>
        </p:grp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47213535-A4E5-2490-3201-C6AC40396DCA}"/>
                </a:ext>
              </a:extLst>
            </p:cNvPr>
            <p:cNvSpPr txBox="1"/>
            <p:nvPr/>
          </p:nvSpPr>
          <p:spPr>
            <a:xfrm>
              <a:off x="1124852" y="3677028"/>
              <a:ext cx="1394027" cy="20005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US" sz="1300" dirty="0">
                  <a:solidFill>
                    <a:srgbClr val="0015AA"/>
                  </a:solidFill>
                </a:rPr>
                <a:t>Five ambiguity axes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04B5762-F7FB-F744-28D8-75C81696744D}"/>
              </a:ext>
            </a:extLst>
          </p:cNvPr>
          <p:cNvGrpSpPr/>
          <p:nvPr/>
        </p:nvGrpSpPr>
        <p:grpSpPr>
          <a:xfrm>
            <a:off x="585930" y="4618173"/>
            <a:ext cx="2594626" cy="304800"/>
            <a:chOff x="3720263" y="3706567"/>
            <a:chExt cx="2594626" cy="304800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ABCC8DB3-54B1-4402-B9CE-E4FA9564617E}"/>
                </a:ext>
              </a:extLst>
            </p:cNvPr>
            <p:cNvGrpSpPr/>
            <p:nvPr/>
          </p:nvGrpSpPr>
          <p:grpSpPr>
            <a:xfrm>
              <a:off x="3720263" y="3706567"/>
              <a:ext cx="2594626" cy="304800"/>
              <a:chOff x="2945707" y="3319741"/>
              <a:chExt cx="2594626" cy="304800"/>
            </a:xfrm>
          </p:grpSpPr>
          <p:sp>
            <p:nvSpPr>
              <p:cNvPr id="132" name="Rounded Rectangle 131">
                <a:extLst>
                  <a:ext uri="{FF2B5EF4-FFF2-40B4-BE49-F238E27FC236}">
                    <a16:creationId xmlns:a16="http://schemas.microsoft.com/office/drawing/2014/main" id="{2C1F4134-FDD5-023F-CC8A-6BBE8962B981}"/>
                  </a:ext>
                </a:extLst>
              </p:cNvPr>
              <p:cNvSpPr/>
              <p:nvPr/>
            </p:nvSpPr>
            <p:spPr>
              <a:xfrm>
                <a:off x="2945707" y="3319741"/>
                <a:ext cx="2467551" cy="304800"/>
              </a:xfrm>
              <a:prstGeom prst="roundRect">
                <a:avLst>
                  <a:gd name="adj" fmla="val 14261"/>
                </a:avLst>
              </a:prstGeom>
              <a:solidFill>
                <a:srgbClr val="F4F7FD"/>
              </a:solidFill>
              <a:ln>
                <a:solidFill>
                  <a:srgbClr val="7791C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256F320-57C1-8BCF-6368-579F0AE6B741}"/>
                  </a:ext>
                </a:extLst>
              </p:cNvPr>
              <p:cNvSpPr txBox="1"/>
              <p:nvPr/>
            </p:nvSpPr>
            <p:spPr>
              <a:xfrm>
                <a:off x="3142552" y="3340507"/>
                <a:ext cx="23977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1E2690"/>
                    </a:solidFill>
                  </a:rPr>
                  <a:t>173</a:t>
                </a:r>
                <a:r>
                  <a:rPr lang="zh-CN" altLang="en-US" sz="1200" b="1" dirty="0">
                    <a:solidFill>
                      <a:srgbClr val="1E2690"/>
                    </a:solidFill>
                  </a:rPr>
                  <a:t> </a:t>
                </a:r>
                <a:r>
                  <a:rPr lang="en-US" altLang="zh-CN" sz="1200" b="1" dirty="0">
                    <a:solidFill>
                      <a:srgbClr val="1E2690"/>
                    </a:solidFill>
                  </a:rPr>
                  <a:t>bilingual instances (EN / ZH)</a:t>
                </a:r>
                <a:endParaRPr lang="en-US" sz="1200" b="1" dirty="0">
                  <a:solidFill>
                    <a:srgbClr val="1E2690"/>
                  </a:solidFill>
                </a:endParaRPr>
              </a:p>
            </p:txBody>
          </p:sp>
        </p:grpSp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A64D97E7-AB9E-9D72-137B-A5947C8B7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759494" y="3727333"/>
              <a:ext cx="312975" cy="278200"/>
            </a:xfrm>
            <a:prstGeom prst="rect">
              <a:avLst/>
            </a:prstGeom>
          </p:spPr>
        </p:pic>
      </p:grp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9FA843FA-5E8D-3F36-E7BF-D4A9316FBD19}"/>
              </a:ext>
            </a:extLst>
          </p:cNvPr>
          <p:cNvSpPr/>
          <p:nvPr/>
        </p:nvSpPr>
        <p:spPr>
          <a:xfrm>
            <a:off x="3716303" y="387090"/>
            <a:ext cx="2813875" cy="4590000"/>
          </a:xfrm>
          <a:prstGeom prst="roundRect">
            <a:avLst>
              <a:gd name="adj" fmla="val 5585"/>
            </a:avLst>
          </a:prstGeom>
          <a:solidFill>
            <a:srgbClr val="FEFEFE"/>
          </a:solidFill>
          <a:ln>
            <a:solidFill>
              <a:srgbClr val="C2C2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8EB5864-DADA-2F99-5998-8E2D343D6C46}"/>
              </a:ext>
            </a:extLst>
          </p:cNvPr>
          <p:cNvSpPr txBox="1"/>
          <p:nvPr/>
        </p:nvSpPr>
        <p:spPr>
          <a:xfrm>
            <a:off x="4250860" y="488054"/>
            <a:ext cx="27505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6900" indent="-126900">
              <a:buAutoNum type="arabicPeriod"/>
            </a:pPr>
            <a:r>
              <a:rPr lang="en-US" sz="100" b="1" dirty="0">
                <a:solidFill>
                  <a:schemeClr val="bg1"/>
                </a:solidFill>
              </a:rPr>
              <a:t>Construct ambiguous instances</a:t>
            </a:r>
          </a:p>
          <a:p>
            <a:pPr marL="126900" indent="-126900">
              <a:buAutoNum type="arabicPeriod"/>
            </a:pPr>
            <a:r>
              <a:rPr lang="en-US" sz="1400" b="1" dirty="0">
                <a:solidFill>
                  <a:srgbClr val="000366"/>
                </a:solidFill>
              </a:rPr>
              <a:t>Verify instance quality</a:t>
            </a: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4097D7C3-C44F-7D2D-9A53-9BB88514ECD1}"/>
              </a:ext>
            </a:extLst>
          </p:cNvPr>
          <p:cNvSpPr/>
          <p:nvPr/>
        </p:nvSpPr>
        <p:spPr>
          <a:xfrm>
            <a:off x="3782159" y="490817"/>
            <a:ext cx="357809" cy="357809"/>
          </a:xfrm>
          <a:prstGeom prst="ellipse">
            <a:avLst/>
          </a:prstGeom>
          <a:solidFill>
            <a:srgbClr val="000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77D919C4-DB90-1A99-4175-F5D8F8B6E3E6}"/>
              </a:ext>
            </a:extLst>
          </p:cNvPr>
          <p:cNvSpPr/>
          <p:nvPr/>
        </p:nvSpPr>
        <p:spPr>
          <a:xfrm>
            <a:off x="3777891" y="898418"/>
            <a:ext cx="2681764" cy="623531"/>
          </a:xfrm>
          <a:prstGeom prst="roundRect">
            <a:avLst>
              <a:gd name="adj" fmla="val 1856"/>
            </a:avLst>
          </a:prstGeom>
          <a:solidFill>
            <a:srgbClr val="FEFEFE"/>
          </a:solidFill>
          <a:ln>
            <a:solidFill>
              <a:srgbClr val="C2C2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2FDEFDF-FD62-897F-EDEE-4D9279006050}"/>
              </a:ext>
            </a:extLst>
          </p:cNvPr>
          <p:cNvSpPr txBox="1"/>
          <p:nvPr/>
        </p:nvSpPr>
        <p:spPr>
          <a:xfrm>
            <a:off x="4683230" y="958819"/>
            <a:ext cx="1171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D1C4B"/>
                </a:solidFill>
              </a:rPr>
              <a:t>Constructor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68CEB604-15C7-613F-B289-119E9AE02334}"/>
                  </a:ext>
                </a:extLst>
              </p:cNvPr>
              <p:cNvSpPr txBox="1"/>
              <p:nvPr/>
            </p:nvSpPr>
            <p:spPr>
              <a:xfrm>
                <a:off x="4692875" y="1186025"/>
                <a:ext cx="13898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Generate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68CEB604-15C7-613F-B289-119E9AE02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875" y="1186025"/>
                <a:ext cx="1389868" cy="276999"/>
              </a:xfrm>
              <a:prstGeom prst="rect">
                <a:avLst/>
              </a:prstGeom>
              <a:blipFill>
                <a:blip r:embed="rId11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5" name="Picture 144">
            <a:extLst>
              <a:ext uri="{FF2B5EF4-FFF2-40B4-BE49-F238E27FC236}">
                <a16:creationId xmlns:a16="http://schemas.microsoft.com/office/drawing/2014/main" id="{933CEF40-2934-81E9-B9E1-C79AC8CACB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8172" y="946111"/>
            <a:ext cx="779518" cy="532936"/>
          </a:xfrm>
          <a:prstGeom prst="rect">
            <a:avLst/>
          </a:prstGeom>
        </p:spPr>
      </p:pic>
      <p:grpSp>
        <p:nvGrpSpPr>
          <p:cNvPr id="176" name="Group 175">
            <a:extLst>
              <a:ext uri="{FF2B5EF4-FFF2-40B4-BE49-F238E27FC236}">
                <a16:creationId xmlns:a16="http://schemas.microsoft.com/office/drawing/2014/main" id="{039AC2F9-6A5E-DAB6-850F-E5B65D85BB47}"/>
              </a:ext>
            </a:extLst>
          </p:cNvPr>
          <p:cNvGrpSpPr/>
          <p:nvPr/>
        </p:nvGrpSpPr>
        <p:grpSpPr>
          <a:xfrm>
            <a:off x="3777891" y="1717578"/>
            <a:ext cx="2731868" cy="635027"/>
            <a:chOff x="3777891" y="1847566"/>
            <a:chExt cx="2731868" cy="635027"/>
          </a:xfrm>
        </p:grpSpPr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980C7CEA-072C-53BE-CCEE-28D971D0C42B}"/>
                </a:ext>
              </a:extLst>
            </p:cNvPr>
            <p:cNvSpPr/>
            <p:nvPr/>
          </p:nvSpPr>
          <p:spPr>
            <a:xfrm>
              <a:off x="3777891" y="1847566"/>
              <a:ext cx="2681764" cy="623531"/>
            </a:xfrm>
            <a:prstGeom prst="roundRect">
              <a:avLst>
                <a:gd name="adj" fmla="val 1856"/>
              </a:avLst>
            </a:prstGeom>
            <a:solidFill>
              <a:srgbClr val="FEFEFE"/>
            </a:solidFill>
            <a:ln>
              <a:solidFill>
                <a:srgbClr val="C2C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28E2262D-FE78-7DA2-5B4D-4A2B10666911}"/>
                </a:ext>
              </a:extLst>
            </p:cNvPr>
            <p:cNvSpPr txBox="1"/>
            <p:nvPr/>
          </p:nvSpPr>
          <p:spPr>
            <a:xfrm>
              <a:off x="4712304" y="1855106"/>
              <a:ext cx="12936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D1C4B"/>
                  </a:solidFill>
                </a:rPr>
                <a:t>Sanity checks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D8583FF9-8223-C291-F674-5619C334D68B}"/>
                </a:ext>
              </a:extLst>
            </p:cNvPr>
            <p:cNvSpPr txBox="1"/>
            <p:nvPr/>
          </p:nvSpPr>
          <p:spPr>
            <a:xfrm>
              <a:off x="4527472" y="2082483"/>
              <a:ext cx="19822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Company named, inline ambiguity, and answer difference</a:t>
              </a:r>
            </a:p>
          </p:txBody>
        </p:sp>
        <p:pic>
          <p:nvPicPr>
            <p:cNvPr id="158" name="Picture 157">
              <a:extLst>
                <a:ext uri="{FF2B5EF4-FFF2-40B4-BE49-F238E27FC236}">
                  <a16:creationId xmlns:a16="http://schemas.microsoft.com/office/drawing/2014/main" id="{CEAD9D21-7B6D-CB29-3039-A2ADE2CC3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979599" y="1887409"/>
              <a:ext cx="458762" cy="577152"/>
            </a:xfrm>
            <a:prstGeom prst="rect">
              <a:avLst/>
            </a:prstGeom>
          </p:spPr>
        </p:pic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208DF9C3-541D-1598-4504-C213B1FB4EAB}"/>
              </a:ext>
            </a:extLst>
          </p:cNvPr>
          <p:cNvGrpSpPr/>
          <p:nvPr/>
        </p:nvGrpSpPr>
        <p:grpSpPr>
          <a:xfrm>
            <a:off x="3777891" y="2533541"/>
            <a:ext cx="2681764" cy="623531"/>
            <a:chOff x="3777891" y="2739728"/>
            <a:chExt cx="2681764" cy="623531"/>
          </a:xfrm>
        </p:grpSpPr>
        <p:sp>
          <p:nvSpPr>
            <p:cNvPr id="150" name="Rounded Rectangle 149">
              <a:extLst>
                <a:ext uri="{FF2B5EF4-FFF2-40B4-BE49-F238E27FC236}">
                  <a16:creationId xmlns:a16="http://schemas.microsoft.com/office/drawing/2014/main" id="{6242D1B8-393F-0F09-3159-5DFCF4E89664}"/>
                </a:ext>
              </a:extLst>
            </p:cNvPr>
            <p:cNvSpPr/>
            <p:nvPr/>
          </p:nvSpPr>
          <p:spPr>
            <a:xfrm>
              <a:off x="3777891" y="2739728"/>
              <a:ext cx="2681764" cy="623531"/>
            </a:xfrm>
            <a:prstGeom prst="roundRect">
              <a:avLst>
                <a:gd name="adj" fmla="val 1856"/>
              </a:avLst>
            </a:prstGeom>
            <a:solidFill>
              <a:srgbClr val="FEFEFE"/>
            </a:solidFill>
            <a:ln>
              <a:solidFill>
                <a:srgbClr val="C2C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45AF650F-526A-13E0-6E02-3E5540F7E1B8}"/>
                </a:ext>
              </a:extLst>
            </p:cNvPr>
            <p:cNvSpPr txBox="1"/>
            <p:nvPr/>
          </p:nvSpPr>
          <p:spPr>
            <a:xfrm>
              <a:off x="4683230" y="2800129"/>
              <a:ext cx="17561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D1C4B"/>
                  </a:solidFill>
                </a:rPr>
                <a:t>Adversarial verifier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846B32AE-5735-88A3-FFD7-11AD1B024491}"/>
                    </a:ext>
                  </a:extLst>
                </p:cNvPr>
                <p:cNvSpPr txBox="1"/>
                <p:nvPr/>
              </p:nvSpPr>
              <p:spPr>
                <a:xfrm>
                  <a:off x="4692875" y="3027335"/>
                  <a:ext cx="148899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Answer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a14:m>
                  <a:r>
                    <a:rPr lang="en-US" sz="1200" dirty="0"/>
                    <a:t> without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846B32AE-5735-88A3-FFD7-11AD1B024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2875" y="3027335"/>
                  <a:ext cx="1488997" cy="276999"/>
                </a:xfrm>
                <a:prstGeom prst="rect">
                  <a:avLst/>
                </a:prstGeom>
                <a:blipFill>
                  <a:blip r:embed="rId14"/>
                  <a:stretch>
                    <a:fillRect t="-4545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9" name="Picture 158">
              <a:extLst>
                <a:ext uri="{FF2B5EF4-FFF2-40B4-BE49-F238E27FC236}">
                  <a16:creationId xmlns:a16="http://schemas.microsoft.com/office/drawing/2014/main" id="{F3C13462-F5DF-3001-3873-BBA74501C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956113" y="2768838"/>
              <a:ext cx="479282" cy="539192"/>
            </a:xfrm>
            <a:prstGeom prst="rect">
              <a:avLst/>
            </a:prstGeom>
          </p:spPr>
        </p:pic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8B2EA8B0-78AD-3F01-6DAB-45222ACED710}"/>
              </a:ext>
            </a:extLst>
          </p:cNvPr>
          <p:cNvGrpSpPr/>
          <p:nvPr/>
        </p:nvGrpSpPr>
        <p:grpSpPr>
          <a:xfrm>
            <a:off x="3777891" y="3349501"/>
            <a:ext cx="2785634" cy="650139"/>
            <a:chOff x="3777891" y="3631890"/>
            <a:chExt cx="2785634" cy="650139"/>
          </a:xfrm>
        </p:grpSpPr>
        <p:sp>
          <p:nvSpPr>
            <p:cNvPr id="154" name="Rounded Rectangle 153">
              <a:extLst>
                <a:ext uri="{FF2B5EF4-FFF2-40B4-BE49-F238E27FC236}">
                  <a16:creationId xmlns:a16="http://schemas.microsoft.com/office/drawing/2014/main" id="{6E8C1DD2-8546-A4E8-CAA0-77D3281F4767}"/>
                </a:ext>
              </a:extLst>
            </p:cNvPr>
            <p:cNvSpPr/>
            <p:nvPr/>
          </p:nvSpPr>
          <p:spPr>
            <a:xfrm>
              <a:off x="3777891" y="3631890"/>
              <a:ext cx="2681764" cy="623531"/>
            </a:xfrm>
            <a:prstGeom prst="roundRect">
              <a:avLst>
                <a:gd name="adj" fmla="val 1856"/>
              </a:avLst>
            </a:prstGeom>
            <a:solidFill>
              <a:srgbClr val="FEFEFE"/>
            </a:solidFill>
            <a:ln>
              <a:solidFill>
                <a:srgbClr val="C2C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BA50250D-92E7-DB9D-EC89-FF6956778DB7}"/>
                </a:ext>
              </a:extLst>
            </p:cNvPr>
            <p:cNvSpPr txBox="1"/>
            <p:nvPr/>
          </p:nvSpPr>
          <p:spPr>
            <a:xfrm>
              <a:off x="4683230" y="3642187"/>
              <a:ext cx="15871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D1C4B"/>
                  </a:solidFill>
                </a:rPr>
                <a:t>Expert validation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B744F9C4-CCD9-9009-CF98-5E6089E6F033}"/>
                </a:ext>
              </a:extLst>
            </p:cNvPr>
            <p:cNvSpPr txBox="1"/>
            <p:nvPr/>
          </p:nvSpPr>
          <p:spPr>
            <a:xfrm>
              <a:off x="4510538" y="3881919"/>
              <a:ext cx="20529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Ambiguity, correctness and aligning to commonly accepted standard</a:t>
              </a:r>
            </a:p>
          </p:txBody>
        </p:sp>
        <p:pic>
          <p:nvPicPr>
            <p:cNvPr id="160" name="Picture 159">
              <a:extLst>
                <a:ext uri="{FF2B5EF4-FFF2-40B4-BE49-F238E27FC236}">
                  <a16:creationId xmlns:a16="http://schemas.microsoft.com/office/drawing/2014/main" id="{822680E5-D203-72B7-010A-708484DA5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891494" y="3660464"/>
              <a:ext cx="599795" cy="584416"/>
            </a:xfrm>
            <a:prstGeom prst="rect">
              <a:avLst/>
            </a:prstGeom>
          </p:spPr>
        </p:pic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6E7B10ED-0D49-21BD-ACAB-C85C37CC8D18}"/>
              </a:ext>
            </a:extLst>
          </p:cNvPr>
          <p:cNvGrpSpPr/>
          <p:nvPr/>
        </p:nvGrpSpPr>
        <p:grpSpPr>
          <a:xfrm>
            <a:off x="3773534" y="4162568"/>
            <a:ext cx="2758707" cy="653370"/>
            <a:chOff x="7485798" y="3390339"/>
            <a:chExt cx="2758707" cy="653370"/>
          </a:xfrm>
        </p:grpSpPr>
        <p:sp>
          <p:nvSpPr>
            <p:cNvPr id="162" name="Rounded Rectangle 161">
              <a:extLst>
                <a:ext uri="{FF2B5EF4-FFF2-40B4-BE49-F238E27FC236}">
                  <a16:creationId xmlns:a16="http://schemas.microsoft.com/office/drawing/2014/main" id="{968EBD6E-CFD2-CDFB-91E1-D5108CAC44A4}"/>
                </a:ext>
              </a:extLst>
            </p:cNvPr>
            <p:cNvSpPr/>
            <p:nvPr/>
          </p:nvSpPr>
          <p:spPr>
            <a:xfrm>
              <a:off x="7485798" y="3390339"/>
              <a:ext cx="2681764" cy="653370"/>
            </a:xfrm>
            <a:prstGeom prst="roundRect">
              <a:avLst>
                <a:gd name="adj" fmla="val 15918"/>
              </a:avLst>
            </a:prstGeom>
            <a:solidFill>
              <a:srgbClr val="F1F9F2"/>
            </a:solidFill>
            <a:ln>
              <a:solidFill>
                <a:srgbClr val="82AA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3" name="Picture 162">
              <a:extLst>
                <a:ext uri="{FF2B5EF4-FFF2-40B4-BE49-F238E27FC236}">
                  <a16:creationId xmlns:a16="http://schemas.microsoft.com/office/drawing/2014/main" id="{4C5A80D0-46DF-585C-6C5C-C4D7445A6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516202" y="3446805"/>
              <a:ext cx="614217" cy="567685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05F43314-E22D-459C-8AE0-96ABD9FCE3E7}"/>
                </a:ext>
              </a:extLst>
            </p:cNvPr>
            <p:cNvSpPr txBox="1"/>
            <p:nvPr/>
          </p:nvSpPr>
          <p:spPr>
            <a:xfrm>
              <a:off x="8100476" y="3456744"/>
              <a:ext cx="21440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146129"/>
                  </a:solidFill>
                </a:rPr>
                <a:t>Keeps only hard, valid and non-trivial instances</a:t>
              </a:r>
            </a:p>
          </p:txBody>
        </p:sp>
      </p:grp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C3AE8686-D3E8-4EC5-23B8-22655260AEB6}"/>
              </a:ext>
            </a:extLst>
          </p:cNvPr>
          <p:cNvCxnSpPr>
            <a:cxnSpLocks/>
            <a:stCxn id="142" idx="2"/>
            <a:endCxn id="146" idx="0"/>
          </p:cNvCxnSpPr>
          <p:nvPr/>
        </p:nvCxnSpPr>
        <p:spPr>
          <a:xfrm>
            <a:off x="5118773" y="1521949"/>
            <a:ext cx="0" cy="195629"/>
          </a:xfrm>
          <a:prstGeom prst="straightConnector1">
            <a:avLst/>
          </a:prstGeom>
          <a:ln w="19050">
            <a:solidFill>
              <a:srgbClr val="08308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62510BF6-ED23-1F6A-3DAC-22BD525359AF}"/>
              </a:ext>
            </a:extLst>
          </p:cNvPr>
          <p:cNvCxnSpPr>
            <a:cxnSpLocks/>
            <a:stCxn id="146" idx="2"/>
            <a:endCxn id="150" idx="0"/>
          </p:cNvCxnSpPr>
          <p:nvPr/>
        </p:nvCxnSpPr>
        <p:spPr>
          <a:xfrm>
            <a:off x="5118773" y="2341109"/>
            <a:ext cx="0" cy="192432"/>
          </a:xfrm>
          <a:prstGeom prst="straightConnector1">
            <a:avLst/>
          </a:prstGeom>
          <a:ln w="19050">
            <a:solidFill>
              <a:srgbClr val="08308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5D0251FA-5743-35F2-3661-337C2683DB8C}"/>
              </a:ext>
            </a:extLst>
          </p:cNvPr>
          <p:cNvCxnSpPr>
            <a:cxnSpLocks/>
            <a:stCxn id="150" idx="2"/>
            <a:endCxn id="154" idx="0"/>
          </p:cNvCxnSpPr>
          <p:nvPr/>
        </p:nvCxnSpPr>
        <p:spPr>
          <a:xfrm>
            <a:off x="5118773" y="3157072"/>
            <a:ext cx="0" cy="192429"/>
          </a:xfrm>
          <a:prstGeom prst="straightConnector1">
            <a:avLst/>
          </a:prstGeom>
          <a:ln w="19050">
            <a:solidFill>
              <a:srgbClr val="08308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67FB5038-B7F9-31A9-B27A-787DF8CA2474}"/>
              </a:ext>
            </a:extLst>
          </p:cNvPr>
          <p:cNvSpPr/>
          <p:nvPr/>
        </p:nvSpPr>
        <p:spPr>
          <a:xfrm>
            <a:off x="6594944" y="387090"/>
            <a:ext cx="2813875" cy="4590000"/>
          </a:xfrm>
          <a:prstGeom prst="roundRect">
            <a:avLst>
              <a:gd name="adj" fmla="val 5585"/>
            </a:avLst>
          </a:prstGeom>
          <a:solidFill>
            <a:srgbClr val="FEFEFE"/>
          </a:solidFill>
          <a:ln>
            <a:solidFill>
              <a:srgbClr val="C2C2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9D7FB152-AF24-0A56-7EE0-07715A578CEA}"/>
              </a:ext>
            </a:extLst>
          </p:cNvPr>
          <p:cNvSpPr txBox="1"/>
          <p:nvPr/>
        </p:nvSpPr>
        <p:spPr>
          <a:xfrm>
            <a:off x="7129501" y="459026"/>
            <a:ext cx="2068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6900" indent="-126900">
              <a:buAutoNum type="arabicPeriod"/>
            </a:pPr>
            <a:r>
              <a:rPr lang="en-US" sz="100" b="1" dirty="0">
                <a:solidFill>
                  <a:schemeClr val="bg1"/>
                </a:solidFill>
              </a:rPr>
              <a:t>Construct ambiguous instances</a:t>
            </a:r>
          </a:p>
          <a:p>
            <a:pPr marL="126900" indent="-126900">
              <a:buAutoNum type="arabicPeriod"/>
            </a:pPr>
            <a:r>
              <a:rPr lang="en-US" sz="100" b="1" dirty="0">
                <a:solidFill>
                  <a:schemeClr val="bg1"/>
                </a:solidFill>
              </a:rPr>
              <a:t>Verify instance quality</a:t>
            </a:r>
          </a:p>
          <a:p>
            <a:pPr marL="126900" indent="-126900">
              <a:buAutoNum type="arabicPeriod"/>
            </a:pPr>
            <a:r>
              <a:rPr lang="en-US" sz="1400" b="1" dirty="0">
                <a:solidFill>
                  <a:srgbClr val="000366"/>
                </a:solidFill>
              </a:rPr>
              <a:t>Evaluate the agent</a:t>
            </a: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C94FAEAF-4B5C-CDAE-C68A-830E938C859D}"/>
              </a:ext>
            </a:extLst>
          </p:cNvPr>
          <p:cNvSpPr/>
          <p:nvPr/>
        </p:nvSpPr>
        <p:spPr>
          <a:xfrm>
            <a:off x="6660800" y="490817"/>
            <a:ext cx="357809" cy="357809"/>
          </a:xfrm>
          <a:prstGeom prst="ellipse">
            <a:avLst/>
          </a:prstGeom>
          <a:solidFill>
            <a:srgbClr val="000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FA06A048-943C-1CE0-7DF6-7FB079AF0F1D}"/>
              </a:ext>
            </a:extLst>
          </p:cNvPr>
          <p:cNvGrpSpPr/>
          <p:nvPr/>
        </p:nvGrpSpPr>
        <p:grpSpPr>
          <a:xfrm>
            <a:off x="6660999" y="878736"/>
            <a:ext cx="2681764" cy="536856"/>
            <a:chOff x="9550246" y="1499077"/>
            <a:chExt cx="2681764" cy="536856"/>
          </a:xfrm>
        </p:grpSpPr>
        <p:sp>
          <p:nvSpPr>
            <p:cNvPr id="209" name="Rounded Rectangle 208">
              <a:extLst>
                <a:ext uri="{FF2B5EF4-FFF2-40B4-BE49-F238E27FC236}">
                  <a16:creationId xmlns:a16="http://schemas.microsoft.com/office/drawing/2014/main" id="{5E6B470B-8C69-C404-D6C0-49C8A74ED0CE}"/>
                </a:ext>
              </a:extLst>
            </p:cNvPr>
            <p:cNvSpPr/>
            <p:nvPr/>
          </p:nvSpPr>
          <p:spPr>
            <a:xfrm>
              <a:off x="9550246" y="1511461"/>
              <a:ext cx="2681764" cy="524472"/>
            </a:xfrm>
            <a:prstGeom prst="roundRect">
              <a:avLst>
                <a:gd name="adj" fmla="val 15918"/>
              </a:avLst>
            </a:prstGeom>
            <a:solidFill>
              <a:srgbClr val="F4F8FE"/>
            </a:solidFill>
            <a:ln>
              <a:solidFill>
                <a:srgbClr val="6B8D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E3A1DA52-14A6-D89D-B4CF-8F619CB1C922}"/>
                </a:ext>
              </a:extLst>
            </p:cNvPr>
            <p:cNvSpPr txBox="1"/>
            <p:nvPr/>
          </p:nvSpPr>
          <p:spPr>
            <a:xfrm>
              <a:off x="10568756" y="1499077"/>
              <a:ext cx="6270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30B4"/>
                  </a:solidFill>
                </a:rPr>
                <a:t>Input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840863D5-667A-E044-9252-A05816C28728}"/>
                </a:ext>
              </a:extLst>
            </p:cNvPr>
            <p:cNvSpPr txBox="1"/>
            <p:nvPr/>
          </p:nvSpPr>
          <p:spPr>
            <a:xfrm>
              <a:off x="9579734" y="1758934"/>
              <a:ext cx="26102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Ambiguous question and filing passage</a:t>
              </a: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6DF875F4-B03E-FBB0-0B41-BD40E002FD65}"/>
              </a:ext>
            </a:extLst>
          </p:cNvPr>
          <p:cNvGrpSpPr/>
          <p:nvPr/>
        </p:nvGrpSpPr>
        <p:grpSpPr>
          <a:xfrm>
            <a:off x="6611123" y="3608991"/>
            <a:ext cx="961930" cy="301542"/>
            <a:chOff x="9488254" y="1624465"/>
            <a:chExt cx="961930" cy="301542"/>
          </a:xfrm>
        </p:grpSpPr>
        <p:sp>
          <p:nvSpPr>
            <p:cNvPr id="214" name="Rounded Rectangle 213">
              <a:extLst>
                <a:ext uri="{FF2B5EF4-FFF2-40B4-BE49-F238E27FC236}">
                  <a16:creationId xmlns:a16="http://schemas.microsoft.com/office/drawing/2014/main" id="{2E9C885A-F7F1-A3E7-BE1E-956927705851}"/>
                </a:ext>
              </a:extLst>
            </p:cNvPr>
            <p:cNvSpPr/>
            <p:nvPr/>
          </p:nvSpPr>
          <p:spPr>
            <a:xfrm>
              <a:off x="9535958" y="1624465"/>
              <a:ext cx="868775" cy="301542"/>
            </a:xfrm>
            <a:prstGeom prst="roundRect">
              <a:avLst>
                <a:gd name="adj" fmla="val 15918"/>
              </a:avLst>
            </a:prstGeom>
            <a:solidFill>
              <a:srgbClr val="F4F8FE"/>
            </a:solidFill>
            <a:ln>
              <a:solidFill>
                <a:srgbClr val="6B8D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3DD7119F-5ABF-011F-E997-4A4C4356843F}"/>
                </a:ext>
              </a:extLst>
            </p:cNvPr>
            <p:cNvSpPr txBox="1"/>
            <p:nvPr/>
          </p:nvSpPr>
          <p:spPr>
            <a:xfrm>
              <a:off x="9488254" y="1639076"/>
              <a:ext cx="9619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30B4"/>
                  </a:solidFill>
                </a:rPr>
                <a:t>Answer-only</a:t>
              </a:r>
            </a:p>
          </p:txBody>
        </p:sp>
      </p:grpSp>
      <p:sp>
        <p:nvSpPr>
          <p:cNvPr id="217" name="Rounded Rectangle 216">
            <a:extLst>
              <a:ext uri="{FF2B5EF4-FFF2-40B4-BE49-F238E27FC236}">
                <a16:creationId xmlns:a16="http://schemas.microsoft.com/office/drawing/2014/main" id="{B33B8819-07FA-CAA8-4B61-B9DE487C23C1}"/>
              </a:ext>
            </a:extLst>
          </p:cNvPr>
          <p:cNvSpPr/>
          <p:nvPr/>
        </p:nvSpPr>
        <p:spPr>
          <a:xfrm>
            <a:off x="6656940" y="1541217"/>
            <a:ext cx="2681764" cy="1828086"/>
          </a:xfrm>
          <a:prstGeom prst="roundRect">
            <a:avLst>
              <a:gd name="adj" fmla="val 6930"/>
            </a:avLst>
          </a:prstGeom>
          <a:solidFill>
            <a:srgbClr val="FEFEFE"/>
          </a:solidFill>
          <a:ln>
            <a:solidFill>
              <a:srgbClr val="497BC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E96FBAAF-7334-C14A-0886-70A054AA9EE4}"/>
              </a:ext>
            </a:extLst>
          </p:cNvPr>
          <p:cNvGrpSpPr/>
          <p:nvPr/>
        </p:nvGrpSpPr>
        <p:grpSpPr>
          <a:xfrm>
            <a:off x="7527924" y="1677155"/>
            <a:ext cx="930264" cy="327772"/>
            <a:chOff x="9880084" y="4197401"/>
            <a:chExt cx="930264" cy="327772"/>
          </a:xfrm>
        </p:grpSpPr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8B7624A0-9C3D-F8C5-E6BF-735654290F16}"/>
                </a:ext>
              </a:extLst>
            </p:cNvPr>
            <p:cNvGrpSpPr/>
            <p:nvPr/>
          </p:nvGrpSpPr>
          <p:grpSpPr>
            <a:xfrm>
              <a:off x="9880084" y="4197401"/>
              <a:ext cx="930264" cy="327772"/>
              <a:chOff x="9658004" y="1613589"/>
              <a:chExt cx="930264" cy="327772"/>
            </a:xfrm>
          </p:grpSpPr>
          <p:sp>
            <p:nvSpPr>
              <p:cNvPr id="219" name="Rounded Rectangle 218">
                <a:extLst>
                  <a:ext uri="{FF2B5EF4-FFF2-40B4-BE49-F238E27FC236}">
                    <a16:creationId xmlns:a16="http://schemas.microsoft.com/office/drawing/2014/main" id="{6FE003E6-0EAA-5C95-441E-E206B999FEF9}"/>
                  </a:ext>
                </a:extLst>
              </p:cNvPr>
              <p:cNvSpPr/>
              <p:nvPr/>
            </p:nvSpPr>
            <p:spPr>
              <a:xfrm>
                <a:off x="9658004" y="1613589"/>
                <a:ext cx="910385" cy="327772"/>
              </a:xfrm>
              <a:prstGeom prst="roundRect">
                <a:avLst>
                  <a:gd name="adj" fmla="val 15918"/>
                </a:avLst>
              </a:prstGeom>
              <a:solidFill>
                <a:srgbClr val="FEFEFE"/>
              </a:solidFill>
              <a:ln>
                <a:solidFill>
                  <a:srgbClr val="6B8DC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24F13300-1409-6FDF-E923-9DEA56C08B3A}"/>
                  </a:ext>
                </a:extLst>
              </p:cNvPr>
              <p:cNvSpPr txBox="1"/>
              <p:nvPr/>
            </p:nvSpPr>
            <p:spPr>
              <a:xfrm>
                <a:off x="9822353" y="1644563"/>
                <a:ext cx="7659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31848"/>
                    </a:solidFill>
                  </a:rPr>
                  <a:t>search(q)</a:t>
                </a:r>
              </a:p>
            </p:txBody>
          </p:sp>
        </p:grpSp>
        <p:pic>
          <p:nvPicPr>
            <p:cNvPr id="222" name="Picture 221">
              <a:extLst>
                <a:ext uri="{FF2B5EF4-FFF2-40B4-BE49-F238E27FC236}">
                  <a16:creationId xmlns:a16="http://schemas.microsoft.com/office/drawing/2014/main" id="{B4E9395E-0996-383F-CFD4-4CFAB0547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889172" y="4264879"/>
              <a:ext cx="254000" cy="215900"/>
            </a:xfrm>
            <a:prstGeom prst="rect">
              <a:avLst/>
            </a:prstGeom>
          </p:spPr>
        </p:pic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5FD8DE66-9658-3833-CC55-540C53C88B26}"/>
              </a:ext>
            </a:extLst>
          </p:cNvPr>
          <p:cNvGrpSpPr/>
          <p:nvPr/>
        </p:nvGrpSpPr>
        <p:grpSpPr>
          <a:xfrm>
            <a:off x="6788018" y="2421652"/>
            <a:ext cx="971857" cy="327772"/>
            <a:chOff x="9887378" y="4610545"/>
            <a:chExt cx="971857" cy="327772"/>
          </a:xfrm>
        </p:grpSpPr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CEA5D31C-18EE-462F-3E9C-9530B6F4407E}"/>
                </a:ext>
              </a:extLst>
            </p:cNvPr>
            <p:cNvGrpSpPr/>
            <p:nvPr/>
          </p:nvGrpSpPr>
          <p:grpSpPr>
            <a:xfrm>
              <a:off x="9887378" y="4610545"/>
              <a:ext cx="971857" cy="327772"/>
              <a:chOff x="9658004" y="1609236"/>
              <a:chExt cx="971857" cy="327772"/>
            </a:xfrm>
          </p:grpSpPr>
          <p:sp>
            <p:nvSpPr>
              <p:cNvPr id="227" name="Rounded Rectangle 226">
                <a:extLst>
                  <a:ext uri="{FF2B5EF4-FFF2-40B4-BE49-F238E27FC236}">
                    <a16:creationId xmlns:a16="http://schemas.microsoft.com/office/drawing/2014/main" id="{035798D3-802E-20F8-0EEC-22EB31C35D58}"/>
                  </a:ext>
                </a:extLst>
              </p:cNvPr>
              <p:cNvSpPr/>
              <p:nvPr/>
            </p:nvSpPr>
            <p:spPr>
              <a:xfrm>
                <a:off x="9658004" y="1609236"/>
                <a:ext cx="910385" cy="327772"/>
              </a:xfrm>
              <a:prstGeom prst="roundRect">
                <a:avLst>
                  <a:gd name="adj" fmla="val 15918"/>
                </a:avLst>
              </a:prstGeom>
              <a:solidFill>
                <a:srgbClr val="FEFEFE"/>
              </a:solidFill>
              <a:ln>
                <a:solidFill>
                  <a:srgbClr val="6B8DC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51A23094-5061-C096-DA61-F3923A4EC811}"/>
                  </a:ext>
                </a:extLst>
              </p:cNvPr>
              <p:cNvSpPr txBox="1"/>
              <p:nvPr/>
            </p:nvSpPr>
            <p:spPr>
              <a:xfrm>
                <a:off x="9815968" y="1644563"/>
                <a:ext cx="8138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31848"/>
                    </a:solidFill>
                  </a:rPr>
                  <a:t>answer(v)</a:t>
                </a:r>
              </a:p>
            </p:txBody>
          </p:sp>
        </p:grpSp>
        <p:pic>
          <p:nvPicPr>
            <p:cNvPr id="230" name="Picture 229">
              <a:extLst>
                <a:ext uri="{FF2B5EF4-FFF2-40B4-BE49-F238E27FC236}">
                  <a16:creationId xmlns:a16="http://schemas.microsoft.com/office/drawing/2014/main" id="{74D2EFBC-DF6B-04E7-75A9-4F70A1CFA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905885" y="4702318"/>
              <a:ext cx="203059" cy="177677"/>
            </a:xfrm>
            <a:prstGeom prst="rect">
              <a:avLst/>
            </a:prstGeom>
          </p:spPr>
        </p:pic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2BD6AA9-B897-600E-5B48-E65494D6D308}"/>
              </a:ext>
            </a:extLst>
          </p:cNvPr>
          <p:cNvGrpSpPr/>
          <p:nvPr/>
        </p:nvGrpSpPr>
        <p:grpSpPr>
          <a:xfrm>
            <a:off x="8287334" y="2421988"/>
            <a:ext cx="977263" cy="327772"/>
            <a:chOff x="10984505" y="4609071"/>
            <a:chExt cx="977263" cy="327772"/>
          </a:xfrm>
        </p:grpSpPr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9EC574F1-EBFC-F531-0E9B-03923F2DC2B9}"/>
                </a:ext>
              </a:extLst>
            </p:cNvPr>
            <p:cNvGrpSpPr/>
            <p:nvPr/>
          </p:nvGrpSpPr>
          <p:grpSpPr>
            <a:xfrm>
              <a:off x="10984505" y="4609071"/>
              <a:ext cx="977263" cy="327772"/>
              <a:chOff x="9658004" y="1613589"/>
              <a:chExt cx="977263" cy="327772"/>
            </a:xfrm>
          </p:grpSpPr>
          <p:sp>
            <p:nvSpPr>
              <p:cNvPr id="236" name="Rounded Rectangle 235">
                <a:extLst>
                  <a:ext uri="{FF2B5EF4-FFF2-40B4-BE49-F238E27FC236}">
                    <a16:creationId xmlns:a16="http://schemas.microsoft.com/office/drawing/2014/main" id="{CFD8702B-282B-33D8-9D44-69B69EE1FE3A}"/>
                  </a:ext>
                </a:extLst>
              </p:cNvPr>
              <p:cNvSpPr/>
              <p:nvPr/>
            </p:nvSpPr>
            <p:spPr>
              <a:xfrm>
                <a:off x="9658004" y="1613589"/>
                <a:ext cx="910385" cy="327772"/>
              </a:xfrm>
              <a:prstGeom prst="roundRect">
                <a:avLst>
                  <a:gd name="adj" fmla="val 15918"/>
                </a:avLst>
              </a:prstGeom>
              <a:solidFill>
                <a:srgbClr val="FEFEFE"/>
              </a:solidFill>
              <a:ln>
                <a:solidFill>
                  <a:srgbClr val="6B8DC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3CD694F1-48EA-5FF1-63FB-C500978968C9}"/>
                  </a:ext>
                </a:extLst>
              </p:cNvPr>
              <p:cNvSpPr txBox="1"/>
              <p:nvPr/>
            </p:nvSpPr>
            <p:spPr>
              <a:xfrm>
                <a:off x="9796383" y="1644563"/>
                <a:ext cx="8388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31848"/>
                    </a:solidFill>
                  </a:rPr>
                  <a:t>interact(q)</a:t>
                </a:r>
              </a:p>
            </p:txBody>
          </p:sp>
        </p:grpSp>
        <p:pic>
          <p:nvPicPr>
            <p:cNvPr id="238" name="Picture 237">
              <a:extLst>
                <a:ext uri="{FF2B5EF4-FFF2-40B4-BE49-F238E27FC236}">
                  <a16:creationId xmlns:a16="http://schemas.microsoft.com/office/drawing/2014/main" id="{680E6D6A-6D7A-6758-F27D-C8C1BE056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011748" y="4678223"/>
              <a:ext cx="209745" cy="191506"/>
            </a:xfrm>
            <a:prstGeom prst="rect">
              <a:avLst/>
            </a:prstGeom>
          </p:spPr>
        </p:pic>
      </p:grpSp>
      <p:pic>
        <p:nvPicPr>
          <p:cNvPr id="240" name="Picture 239">
            <a:extLst>
              <a:ext uri="{FF2B5EF4-FFF2-40B4-BE49-F238E27FC236}">
                <a16:creationId xmlns:a16="http://schemas.microsoft.com/office/drawing/2014/main" id="{78734923-0217-896D-5B91-7DC8AC1490B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61938" y="2067427"/>
            <a:ext cx="437641" cy="425313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9E466497-7E0A-0377-6407-B903E1095F8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12056" y="2928990"/>
            <a:ext cx="387523" cy="397211"/>
          </a:xfrm>
          <a:prstGeom prst="rect">
            <a:avLst/>
          </a:prstGeom>
        </p:spPr>
      </p:pic>
      <p:cxnSp>
        <p:nvCxnSpPr>
          <p:cNvPr id="243" name="Curved Connector 242">
            <a:extLst>
              <a:ext uri="{FF2B5EF4-FFF2-40B4-BE49-F238E27FC236}">
                <a16:creationId xmlns:a16="http://schemas.microsoft.com/office/drawing/2014/main" id="{43222389-FEF4-2CA2-5841-DFC9EFF15EEE}"/>
              </a:ext>
            </a:extLst>
          </p:cNvPr>
          <p:cNvCxnSpPr>
            <a:stCxn id="227" idx="0"/>
            <a:endCxn id="222" idx="1"/>
          </p:cNvCxnSpPr>
          <p:nvPr/>
        </p:nvCxnSpPr>
        <p:spPr>
          <a:xfrm rot="5400000" flipH="1" flipV="1">
            <a:off x="7105577" y="1990218"/>
            <a:ext cx="569069" cy="293801"/>
          </a:xfrm>
          <a:prstGeom prst="curvedConnector2">
            <a:avLst/>
          </a:prstGeom>
          <a:ln w="12700">
            <a:solidFill>
              <a:srgbClr val="0E194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urved Connector 243">
            <a:extLst>
              <a:ext uri="{FF2B5EF4-FFF2-40B4-BE49-F238E27FC236}">
                <a16:creationId xmlns:a16="http://schemas.microsoft.com/office/drawing/2014/main" id="{25413D1D-1A30-E7CF-2634-6FE841B77A1E}"/>
              </a:ext>
            </a:extLst>
          </p:cNvPr>
          <p:cNvCxnSpPr>
            <a:cxnSpLocks/>
            <a:stCxn id="236" idx="0"/>
            <a:endCxn id="221" idx="3"/>
          </p:cNvCxnSpPr>
          <p:nvPr/>
        </p:nvCxnSpPr>
        <p:spPr>
          <a:xfrm rot="16200000" flipV="1">
            <a:off x="8312679" y="1992139"/>
            <a:ext cx="575359" cy="284339"/>
          </a:xfrm>
          <a:prstGeom prst="curvedConnector2">
            <a:avLst/>
          </a:prstGeom>
          <a:ln w="12700">
            <a:solidFill>
              <a:srgbClr val="0E194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2E7728DF-BDAD-CA97-49E8-DFBBFDD46400}"/>
              </a:ext>
            </a:extLst>
          </p:cNvPr>
          <p:cNvCxnSpPr>
            <a:cxnSpLocks/>
            <a:stCxn id="227" idx="3"/>
            <a:endCxn id="236" idx="1"/>
          </p:cNvCxnSpPr>
          <p:nvPr/>
        </p:nvCxnSpPr>
        <p:spPr>
          <a:xfrm>
            <a:off x="7698403" y="2585538"/>
            <a:ext cx="588931" cy="336"/>
          </a:xfrm>
          <a:prstGeom prst="straightConnector1">
            <a:avLst/>
          </a:prstGeom>
          <a:ln w="12700">
            <a:solidFill>
              <a:srgbClr val="0E194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7BDCD2BA-3D2D-45CA-A490-AFE99EF1E1F1}"/>
              </a:ext>
            </a:extLst>
          </p:cNvPr>
          <p:cNvSpPr txBox="1"/>
          <p:nvPr/>
        </p:nvSpPr>
        <p:spPr>
          <a:xfrm>
            <a:off x="8118815" y="2897706"/>
            <a:ext cx="1150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User simulator answers from C</a:t>
            </a:r>
          </a:p>
        </p:txBody>
      </p: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15EFF2C8-79E4-4672-96B0-C287F3FAC631}"/>
              </a:ext>
            </a:extLst>
          </p:cNvPr>
          <p:cNvCxnSpPr>
            <a:cxnSpLocks/>
            <a:stCxn id="236" idx="2"/>
          </p:cNvCxnSpPr>
          <p:nvPr/>
        </p:nvCxnSpPr>
        <p:spPr>
          <a:xfrm>
            <a:off x="8742527" y="2749760"/>
            <a:ext cx="0" cy="234000"/>
          </a:xfrm>
          <a:prstGeom prst="straightConnector1">
            <a:avLst/>
          </a:prstGeom>
          <a:ln w="12700">
            <a:solidFill>
              <a:srgbClr val="0E194E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98A5A8C2-7639-30D8-5640-B7B17577D20C}"/>
              </a:ext>
            </a:extLst>
          </p:cNvPr>
          <p:cNvSpPr txBox="1"/>
          <p:nvPr/>
        </p:nvSpPr>
        <p:spPr>
          <a:xfrm>
            <a:off x="7643539" y="1446425"/>
            <a:ext cx="734432" cy="200055"/>
          </a:xfrm>
          <a:prstGeom prst="rect">
            <a:avLst/>
          </a:prstGeom>
          <a:solidFill>
            <a:srgbClr val="FEFEFE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300" dirty="0" err="1">
                <a:solidFill>
                  <a:srgbClr val="0027B4"/>
                </a:solidFill>
              </a:rPr>
              <a:t>ReAct</a:t>
            </a:r>
            <a:r>
              <a:rPr lang="en-US" sz="1300" dirty="0">
                <a:solidFill>
                  <a:srgbClr val="0027B4"/>
                </a:solidFill>
              </a:rPr>
              <a:t> loop</a:t>
            </a:r>
          </a:p>
        </p:txBody>
      </p: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E5A48407-6427-DC08-C7C8-8CD5AE90902A}"/>
              </a:ext>
            </a:extLst>
          </p:cNvPr>
          <p:cNvGrpSpPr/>
          <p:nvPr/>
        </p:nvGrpSpPr>
        <p:grpSpPr>
          <a:xfrm>
            <a:off x="7559790" y="3949355"/>
            <a:ext cx="868775" cy="301542"/>
            <a:chOff x="9535958" y="1624465"/>
            <a:chExt cx="868775" cy="301542"/>
          </a:xfrm>
        </p:grpSpPr>
        <p:sp>
          <p:nvSpPr>
            <p:cNvPr id="261" name="Rounded Rectangle 260">
              <a:extLst>
                <a:ext uri="{FF2B5EF4-FFF2-40B4-BE49-F238E27FC236}">
                  <a16:creationId xmlns:a16="http://schemas.microsoft.com/office/drawing/2014/main" id="{2CC0DCFE-8A15-5303-F0DD-C2419441A84C}"/>
                </a:ext>
              </a:extLst>
            </p:cNvPr>
            <p:cNvSpPr/>
            <p:nvPr/>
          </p:nvSpPr>
          <p:spPr>
            <a:xfrm>
              <a:off x="9535958" y="1624465"/>
              <a:ext cx="868775" cy="301542"/>
            </a:xfrm>
            <a:prstGeom prst="roundRect">
              <a:avLst>
                <a:gd name="adj" fmla="val 15918"/>
              </a:avLst>
            </a:prstGeom>
            <a:solidFill>
              <a:srgbClr val="F4F8FE">
                <a:alpha val="42203"/>
              </a:srgbClr>
            </a:solidFill>
            <a:ln>
              <a:solidFill>
                <a:srgbClr val="6B8D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F9CC3EC-0EC9-AA61-7691-8ABB13AF70AF}"/>
                </a:ext>
              </a:extLst>
            </p:cNvPr>
            <p:cNvSpPr txBox="1"/>
            <p:nvPr/>
          </p:nvSpPr>
          <p:spPr>
            <a:xfrm>
              <a:off x="9668015" y="1639076"/>
              <a:ext cx="6024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30B4"/>
                  </a:solidFill>
                </a:rPr>
                <a:t>Search</a:t>
              </a:r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7BE59E59-CFCB-ED1F-876D-0EC5CAC91131}"/>
              </a:ext>
            </a:extLst>
          </p:cNvPr>
          <p:cNvGrpSpPr/>
          <p:nvPr/>
        </p:nvGrpSpPr>
        <p:grpSpPr>
          <a:xfrm>
            <a:off x="8470421" y="4296378"/>
            <a:ext cx="868775" cy="301542"/>
            <a:chOff x="9535958" y="1624465"/>
            <a:chExt cx="868775" cy="301542"/>
          </a:xfrm>
        </p:grpSpPr>
        <p:sp>
          <p:nvSpPr>
            <p:cNvPr id="264" name="Rounded Rectangle 263">
              <a:extLst>
                <a:ext uri="{FF2B5EF4-FFF2-40B4-BE49-F238E27FC236}">
                  <a16:creationId xmlns:a16="http://schemas.microsoft.com/office/drawing/2014/main" id="{A1D539A8-49E1-5F80-1738-2B7B5C7E7851}"/>
                </a:ext>
              </a:extLst>
            </p:cNvPr>
            <p:cNvSpPr/>
            <p:nvPr/>
          </p:nvSpPr>
          <p:spPr>
            <a:xfrm>
              <a:off x="9535958" y="1624465"/>
              <a:ext cx="868775" cy="301542"/>
            </a:xfrm>
            <a:prstGeom prst="roundRect">
              <a:avLst>
                <a:gd name="adj" fmla="val 15918"/>
              </a:avLst>
            </a:prstGeom>
            <a:solidFill>
              <a:srgbClr val="F4F8FE">
                <a:alpha val="0"/>
              </a:srgbClr>
            </a:solidFill>
            <a:ln>
              <a:solidFill>
                <a:srgbClr val="6B8D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285CA743-EB26-13E6-BEFF-DA895A950FE0}"/>
                </a:ext>
              </a:extLst>
            </p:cNvPr>
            <p:cNvSpPr txBox="1"/>
            <p:nvPr/>
          </p:nvSpPr>
          <p:spPr>
            <a:xfrm>
              <a:off x="9634736" y="1639076"/>
              <a:ext cx="6689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30B4"/>
                  </a:solidFill>
                </a:rPr>
                <a:t>Interact</a:t>
              </a:r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3B425B75-C3BF-A7E6-3CF4-18212A74B9FB}"/>
              </a:ext>
            </a:extLst>
          </p:cNvPr>
          <p:cNvGrpSpPr/>
          <p:nvPr/>
        </p:nvGrpSpPr>
        <p:grpSpPr>
          <a:xfrm>
            <a:off x="6653909" y="3953206"/>
            <a:ext cx="868775" cy="301542"/>
            <a:chOff x="9535958" y="1624465"/>
            <a:chExt cx="868775" cy="301542"/>
          </a:xfrm>
        </p:grpSpPr>
        <p:sp>
          <p:nvSpPr>
            <p:cNvPr id="267" name="Rounded Rectangle 266">
              <a:extLst>
                <a:ext uri="{FF2B5EF4-FFF2-40B4-BE49-F238E27FC236}">
                  <a16:creationId xmlns:a16="http://schemas.microsoft.com/office/drawing/2014/main" id="{9944B27E-44F3-AAD1-D833-49A1C6D430F5}"/>
                </a:ext>
              </a:extLst>
            </p:cNvPr>
            <p:cNvSpPr/>
            <p:nvPr/>
          </p:nvSpPr>
          <p:spPr>
            <a:xfrm>
              <a:off x="9535958" y="1624465"/>
              <a:ext cx="868775" cy="301542"/>
            </a:xfrm>
            <a:prstGeom prst="roundRect">
              <a:avLst>
                <a:gd name="adj" fmla="val 15918"/>
              </a:avLst>
            </a:prstGeom>
            <a:solidFill>
              <a:srgbClr val="F4F8FE"/>
            </a:solidFill>
            <a:ln>
              <a:solidFill>
                <a:srgbClr val="6B8D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8C7E42EB-6DCD-C0BA-CDED-1B333656B258}"/>
                </a:ext>
              </a:extLst>
            </p:cNvPr>
            <p:cNvSpPr txBox="1"/>
            <p:nvPr/>
          </p:nvSpPr>
          <p:spPr>
            <a:xfrm>
              <a:off x="9876854" y="1639076"/>
              <a:ext cx="1847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200" dirty="0">
                <a:solidFill>
                  <a:srgbClr val="0030B4"/>
                </a:solidFill>
              </a:endParaRPr>
            </a:p>
          </p:txBody>
        </p: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CB1A8DBA-15E9-4606-2523-D939DAB2D62C}"/>
              </a:ext>
            </a:extLst>
          </p:cNvPr>
          <p:cNvGrpSpPr/>
          <p:nvPr/>
        </p:nvGrpSpPr>
        <p:grpSpPr>
          <a:xfrm>
            <a:off x="6653909" y="4296378"/>
            <a:ext cx="868775" cy="301542"/>
            <a:chOff x="9535958" y="1624465"/>
            <a:chExt cx="868775" cy="301542"/>
          </a:xfrm>
        </p:grpSpPr>
        <p:sp>
          <p:nvSpPr>
            <p:cNvPr id="270" name="Rounded Rectangle 269">
              <a:extLst>
                <a:ext uri="{FF2B5EF4-FFF2-40B4-BE49-F238E27FC236}">
                  <a16:creationId xmlns:a16="http://schemas.microsoft.com/office/drawing/2014/main" id="{F7DE7E41-F898-6C85-AAC6-95F032DF61A9}"/>
                </a:ext>
              </a:extLst>
            </p:cNvPr>
            <p:cNvSpPr/>
            <p:nvPr/>
          </p:nvSpPr>
          <p:spPr>
            <a:xfrm>
              <a:off x="9535958" y="1624465"/>
              <a:ext cx="868775" cy="301542"/>
            </a:xfrm>
            <a:prstGeom prst="roundRect">
              <a:avLst>
                <a:gd name="adj" fmla="val 15918"/>
              </a:avLst>
            </a:prstGeom>
            <a:solidFill>
              <a:srgbClr val="F4F8FE"/>
            </a:solidFill>
            <a:ln>
              <a:solidFill>
                <a:srgbClr val="6B8D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384B5490-1106-14FF-A54A-DE06DBC0D22D}"/>
                </a:ext>
              </a:extLst>
            </p:cNvPr>
            <p:cNvSpPr txBox="1"/>
            <p:nvPr/>
          </p:nvSpPr>
          <p:spPr>
            <a:xfrm>
              <a:off x="9876854" y="1639076"/>
              <a:ext cx="1847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200" dirty="0">
                <a:solidFill>
                  <a:srgbClr val="0030B4"/>
                </a:solidFill>
              </a:endParaRPr>
            </a:p>
          </p:txBody>
        </p:sp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64E526E5-571D-73EC-FA9A-DED18B807AC5}"/>
              </a:ext>
            </a:extLst>
          </p:cNvPr>
          <p:cNvGrpSpPr/>
          <p:nvPr/>
        </p:nvGrpSpPr>
        <p:grpSpPr>
          <a:xfrm>
            <a:off x="7559790" y="4301999"/>
            <a:ext cx="868775" cy="301542"/>
            <a:chOff x="9535958" y="1624465"/>
            <a:chExt cx="868775" cy="301542"/>
          </a:xfrm>
        </p:grpSpPr>
        <p:sp>
          <p:nvSpPr>
            <p:cNvPr id="273" name="Rounded Rectangle 272">
              <a:extLst>
                <a:ext uri="{FF2B5EF4-FFF2-40B4-BE49-F238E27FC236}">
                  <a16:creationId xmlns:a16="http://schemas.microsoft.com/office/drawing/2014/main" id="{F85D2CA5-15A4-EEAF-A632-DC74D54B3020}"/>
                </a:ext>
              </a:extLst>
            </p:cNvPr>
            <p:cNvSpPr/>
            <p:nvPr/>
          </p:nvSpPr>
          <p:spPr>
            <a:xfrm>
              <a:off x="9535958" y="1624465"/>
              <a:ext cx="868775" cy="301542"/>
            </a:xfrm>
            <a:prstGeom prst="roundRect">
              <a:avLst>
                <a:gd name="adj" fmla="val 15918"/>
              </a:avLst>
            </a:prstGeom>
            <a:solidFill>
              <a:srgbClr val="F4F8FE">
                <a:alpha val="42203"/>
              </a:srgbClr>
            </a:solidFill>
            <a:ln>
              <a:solidFill>
                <a:srgbClr val="6B8D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3E8B3E64-DE25-5A4B-F3B3-BDF9742F17ED}"/>
                </a:ext>
              </a:extLst>
            </p:cNvPr>
            <p:cNvSpPr txBox="1"/>
            <p:nvPr/>
          </p:nvSpPr>
          <p:spPr>
            <a:xfrm>
              <a:off x="9876854" y="1639076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1200" dirty="0">
                <a:solidFill>
                  <a:srgbClr val="0030B4"/>
                </a:solidFill>
              </a:endParaRPr>
            </a:p>
          </p:txBody>
        </p:sp>
      </p:grpSp>
      <p:sp>
        <p:nvSpPr>
          <p:cNvPr id="275" name="TextBox 274">
            <a:extLst>
              <a:ext uri="{FF2B5EF4-FFF2-40B4-BE49-F238E27FC236}">
                <a16:creationId xmlns:a16="http://schemas.microsoft.com/office/drawing/2014/main" id="{E9D1547C-ED0F-17A2-2DE9-211F3D04FFCD}"/>
              </a:ext>
            </a:extLst>
          </p:cNvPr>
          <p:cNvSpPr txBox="1"/>
          <p:nvPr/>
        </p:nvSpPr>
        <p:spPr>
          <a:xfrm>
            <a:off x="7274469" y="3363426"/>
            <a:ext cx="14793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7B4"/>
                </a:solidFill>
              </a:rPr>
              <a:t>Evaluation modes</a:t>
            </a:r>
          </a:p>
        </p:txBody>
      </p: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48AF2ADE-DCEC-B925-435C-6B1FED30C688}"/>
              </a:ext>
            </a:extLst>
          </p:cNvPr>
          <p:cNvGrpSpPr/>
          <p:nvPr/>
        </p:nvGrpSpPr>
        <p:grpSpPr>
          <a:xfrm>
            <a:off x="7059140" y="4630713"/>
            <a:ext cx="1987238" cy="312089"/>
            <a:chOff x="9860633" y="5496246"/>
            <a:chExt cx="1987238" cy="312089"/>
          </a:xfrm>
        </p:grpSpPr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69E8CBAB-883E-621A-490B-477EF73A3699}"/>
                </a:ext>
              </a:extLst>
            </p:cNvPr>
            <p:cNvGrpSpPr/>
            <p:nvPr/>
          </p:nvGrpSpPr>
          <p:grpSpPr>
            <a:xfrm>
              <a:off x="9860633" y="5496246"/>
              <a:ext cx="1987238" cy="312089"/>
              <a:chOff x="7485798" y="3419229"/>
              <a:chExt cx="1987238" cy="312089"/>
            </a:xfrm>
          </p:grpSpPr>
          <p:sp>
            <p:nvSpPr>
              <p:cNvPr id="203" name="Rounded Rectangle 202">
                <a:extLst>
                  <a:ext uri="{FF2B5EF4-FFF2-40B4-BE49-F238E27FC236}">
                    <a16:creationId xmlns:a16="http://schemas.microsoft.com/office/drawing/2014/main" id="{F8163404-A978-5FAB-B04E-116A2089676D}"/>
                  </a:ext>
                </a:extLst>
              </p:cNvPr>
              <p:cNvSpPr/>
              <p:nvPr/>
            </p:nvSpPr>
            <p:spPr>
              <a:xfrm>
                <a:off x="7485798" y="3419229"/>
                <a:ext cx="1849586" cy="310391"/>
              </a:xfrm>
              <a:prstGeom prst="roundRect">
                <a:avLst>
                  <a:gd name="adj" fmla="val 15918"/>
                </a:avLst>
              </a:prstGeom>
              <a:solidFill>
                <a:srgbClr val="FEEFCD"/>
              </a:solidFill>
              <a:ln>
                <a:solidFill>
                  <a:srgbClr val="E1C58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1065F441-FB1A-48C8-8843-9CFA0505F658}"/>
                  </a:ext>
                </a:extLst>
              </p:cNvPr>
              <p:cNvSpPr txBox="1"/>
              <p:nvPr/>
            </p:nvSpPr>
            <p:spPr>
              <a:xfrm>
                <a:off x="7864973" y="3423541"/>
                <a:ext cx="160806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050501"/>
                    </a:solidFill>
                  </a:rPr>
                  <a:t>Axis-Aware </a:t>
                </a:r>
                <a:r>
                  <a:rPr lang="en-US" sz="1400" dirty="0" err="1">
                    <a:solidFill>
                      <a:srgbClr val="050501"/>
                    </a:solidFill>
                  </a:rPr>
                  <a:t>ReAct</a:t>
                </a:r>
                <a:endParaRPr lang="en-US" sz="1400" dirty="0">
                  <a:solidFill>
                    <a:srgbClr val="050501"/>
                  </a:solidFill>
                </a:endParaRPr>
              </a:p>
            </p:txBody>
          </p:sp>
        </p:grpSp>
        <p:pic>
          <p:nvPicPr>
            <p:cNvPr id="276" name="Picture 275">
              <a:extLst>
                <a:ext uri="{FF2B5EF4-FFF2-40B4-BE49-F238E27FC236}">
                  <a16:creationId xmlns:a16="http://schemas.microsoft.com/office/drawing/2014/main" id="{1FB01DD6-3A96-6E8D-D4F3-1C649BFDA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9902279" y="5520734"/>
              <a:ext cx="291438" cy="272009"/>
            </a:xfrm>
            <a:prstGeom prst="rect">
              <a:avLst/>
            </a:prstGeom>
          </p:spPr>
        </p:pic>
      </p:grpSp>
      <p:sp>
        <p:nvSpPr>
          <p:cNvPr id="278" name="Rounded Rectangle 277">
            <a:extLst>
              <a:ext uri="{FF2B5EF4-FFF2-40B4-BE49-F238E27FC236}">
                <a16:creationId xmlns:a16="http://schemas.microsoft.com/office/drawing/2014/main" id="{ECD67E57-DB5B-CCE3-76DB-59A4598CB64C}"/>
              </a:ext>
            </a:extLst>
          </p:cNvPr>
          <p:cNvSpPr/>
          <p:nvPr/>
        </p:nvSpPr>
        <p:spPr>
          <a:xfrm>
            <a:off x="9457480" y="392685"/>
            <a:ext cx="2677028" cy="4590000"/>
          </a:xfrm>
          <a:prstGeom prst="roundRect">
            <a:avLst>
              <a:gd name="adj" fmla="val 5585"/>
            </a:avLst>
          </a:prstGeom>
          <a:solidFill>
            <a:srgbClr val="FEFEFE"/>
          </a:solidFill>
          <a:ln>
            <a:solidFill>
              <a:srgbClr val="C2C2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D6F13BBC-FA2D-F766-E96C-A3FB854BB7FD}"/>
              </a:ext>
            </a:extLst>
          </p:cNvPr>
          <p:cNvSpPr txBox="1"/>
          <p:nvPr/>
        </p:nvSpPr>
        <p:spPr>
          <a:xfrm>
            <a:off x="9992036" y="448292"/>
            <a:ext cx="206821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6900" indent="-126900">
              <a:buAutoNum type="arabicPeriod"/>
            </a:pPr>
            <a:r>
              <a:rPr lang="en-US" sz="100" b="1" dirty="0">
                <a:solidFill>
                  <a:schemeClr val="bg1"/>
                </a:solidFill>
              </a:rPr>
              <a:t>Construct ambiguous instances</a:t>
            </a:r>
          </a:p>
          <a:p>
            <a:pPr marL="126900" indent="-126900">
              <a:buAutoNum type="arabicPeriod"/>
            </a:pPr>
            <a:r>
              <a:rPr lang="en-US" sz="100" b="1" dirty="0">
                <a:solidFill>
                  <a:schemeClr val="bg1"/>
                </a:solidFill>
              </a:rPr>
              <a:t>Verify instance quality</a:t>
            </a:r>
          </a:p>
          <a:p>
            <a:pPr marL="126900" indent="-126900">
              <a:buAutoNum type="arabicPeriod"/>
            </a:pPr>
            <a:r>
              <a:rPr lang="en-US" sz="100" b="1" dirty="0">
                <a:solidFill>
                  <a:schemeClr val="bg1"/>
                </a:solidFill>
              </a:rPr>
              <a:t>Evaluate the agent</a:t>
            </a:r>
          </a:p>
          <a:p>
            <a:pPr marL="126900" indent="-126900">
              <a:buAutoNum type="arabicPeriod"/>
            </a:pPr>
            <a:r>
              <a:rPr lang="en-US" sz="1400" b="1" dirty="0">
                <a:solidFill>
                  <a:srgbClr val="000366"/>
                </a:solidFill>
              </a:rPr>
              <a:t>Score and diagnose</a:t>
            </a:r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934559EA-8D99-D894-4B0E-CAF2B0571958}"/>
              </a:ext>
            </a:extLst>
          </p:cNvPr>
          <p:cNvSpPr/>
          <p:nvPr/>
        </p:nvSpPr>
        <p:spPr>
          <a:xfrm>
            <a:off x="9523335" y="496412"/>
            <a:ext cx="357809" cy="357809"/>
          </a:xfrm>
          <a:prstGeom prst="ellipse">
            <a:avLst/>
          </a:prstGeom>
          <a:solidFill>
            <a:srgbClr val="000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C71E7CFE-700E-9381-91B3-F9F8E4729FAA}"/>
              </a:ext>
            </a:extLst>
          </p:cNvPr>
          <p:cNvGrpSpPr/>
          <p:nvPr/>
        </p:nvGrpSpPr>
        <p:grpSpPr>
          <a:xfrm>
            <a:off x="9534823" y="884331"/>
            <a:ext cx="2536720" cy="536856"/>
            <a:chOff x="9550246" y="1499077"/>
            <a:chExt cx="2681764" cy="536856"/>
          </a:xfrm>
        </p:grpSpPr>
        <p:sp>
          <p:nvSpPr>
            <p:cNvPr id="282" name="Rounded Rectangle 281">
              <a:extLst>
                <a:ext uri="{FF2B5EF4-FFF2-40B4-BE49-F238E27FC236}">
                  <a16:creationId xmlns:a16="http://schemas.microsoft.com/office/drawing/2014/main" id="{3636B86A-8C89-8E1F-12D6-52D5FE1D7DFE}"/>
                </a:ext>
              </a:extLst>
            </p:cNvPr>
            <p:cNvSpPr/>
            <p:nvPr/>
          </p:nvSpPr>
          <p:spPr>
            <a:xfrm>
              <a:off x="9550246" y="1511461"/>
              <a:ext cx="2681764" cy="524472"/>
            </a:xfrm>
            <a:prstGeom prst="roundRect">
              <a:avLst>
                <a:gd name="adj" fmla="val 15918"/>
              </a:avLst>
            </a:prstGeom>
            <a:solidFill>
              <a:srgbClr val="F4F8FE"/>
            </a:solidFill>
            <a:ln>
              <a:solidFill>
                <a:srgbClr val="6B8D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3E9DB559-1D00-860E-913E-1C8D8379F91A}"/>
                </a:ext>
              </a:extLst>
            </p:cNvPr>
            <p:cNvSpPr txBox="1"/>
            <p:nvPr/>
          </p:nvSpPr>
          <p:spPr>
            <a:xfrm>
              <a:off x="10171247" y="1499077"/>
              <a:ext cx="14221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30B4"/>
                  </a:solidFill>
                </a:rPr>
                <a:t>Primary metric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8C139D42-042E-18D5-8518-5E541425F3AF}"/>
                </a:ext>
              </a:extLst>
            </p:cNvPr>
            <p:cNvSpPr txBox="1"/>
            <p:nvPr/>
          </p:nvSpPr>
          <p:spPr>
            <a:xfrm>
              <a:off x="9664508" y="1758934"/>
              <a:ext cx="24406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Accuracy on intended interpretation</a:t>
              </a:r>
            </a:p>
          </p:txBody>
        </p:sp>
      </p:grp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5611968F-51F0-37C5-EC9C-AD2E667A4E9D}"/>
              </a:ext>
            </a:extLst>
          </p:cNvPr>
          <p:cNvSpPr/>
          <p:nvPr/>
        </p:nvSpPr>
        <p:spPr>
          <a:xfrm>
            <a:off x="9531325" y="3548290"/>
            <a:ext cx="1177064" cy="692675"/>
          </a:xfrm>
          <a:prstGeom prst="roundRect">
            <a:avLst>
              <a:gd name="adj" fmla="val 15918"/>
            </a:avLst>
          </a:prstGeom>
          <a:solidFill>
            <a:srgbClr val="FEFEFE"/>
          </a:solidFill>
          <a:ln>
            <a:solidFill>
              <a:srgbClr val="C9C9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Rounded Rectangle 330">
            <a:extLst>
              <a:ext uri="{FF2B5EF4-FFF2-40B4-BE49-F238E27FC236}">
                <a16:creationId xmlns:a16="http://schemas.microsoft.com/office/drawing/2014/main" id="{4920686E-0FD4-9210-E8BB-B914A66A7CD5}"/>
              </a:ext>
            </a:extLst>
          </p:cNvPr>
          <p:cNvSpPr/>
          <p:nvPr/>
        </p:nvSpPr>
        <p:spPr>
          <a:xfrm>
            <a:off x="9592274" y="4283156"/>
            <a:ext cx="2441012" cy="640966"/>
          </a:xfrm>
          <a:prstGeom prst="roundRect">
            <a:avLst>
              <a:gd name="adj" fmla="val 15918"/>
            </a:avLst>
          </a:prstGeom>
          <a:solidFill>
            <a:srgbClr val="F5F1FB"/>
          </a:solidFill>
          <a:ln>
            <a:solidFill>
              <a:srgbClr val="826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E9A72370-736B-6B1F-9970-8EEB75488B63}"/>
              </a:ext>
            </a:extLst>
          </p:cNvPr>
          <p:cNvGrpSpPr/>
          <p:nvPr/>
        </p:nvGrpSpPr>
        <p:grpSpPr>
          <a:xfrm>
            <a:off x="9526290" y="1485962"/>
            <a:ext cx="2533964" cy="910023"/>
            <a:chOff x="9526290" y="1607483"/>
            <a:chExt cx="2681764" cy="910023"/>
          </a:xfrm>
        </p:grpSpPr>
        <p:sp>
          <p:nvSpPr>
            <p:cNvPr id="334" name="Rounded Rectangle 333">
              <a:extLst>
                <a:ext uri="{FF2B5EF4-FFF2-40B4-BE49-F238E27FC236}">
                  <a16:creationId xmlns:a16="http://schemas.microsoft.com/office/drawing/2014/main" id="{F07C8A47-C34A-865C-6D27-E0AEDB3D1723}"/>
                </a:ext>
              </a:extLst>
            </p:cNvPr>
            <p:cNvSpPr/>
            <p:nvPr/>
          </p:nvSpPr>
          <p:spPr>
            <a:xfrm>
              <a:off x="9526290" y="1607483"/>
              <a:ext cx="2681764" cy="893564"/>
            </a:xfrm>
            <a:prstGeom prst="roundRect">
              <a:avLst>
                <a:gd name="adj" fmla="val 20187"/>
              </a:avLst>
            </a:prstGeom>
            <a:solidFill>
              <a:srgbClr val="FEFEFE"/>
            </a:solidFill>
            <a:ln>
              <a:solidFill>
                <a:srgbClr val="C2C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5528B082-CA90-2735-2C27-09D17D7BF6A3}"/>
                </a:ext>
              </a:extLst>
            </p:cNvPr>
            <p:cNvSpPr txBox="1"/>
            <p:nvPr/>
          </p:nvSpPr>
          <p:spPr>
            <a:xfrm>
              <a:off x="10277492" y="1625917"/>
              <a:ext cx="1173847" cy="200055"/>
            </a:xfrm>
            <a:prstGeom prst="rect">
              <a:avLst/>
            </a:prstGeom>
            <a:solidFill>
              <a:srgbClr val="FEFEFE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300" dirty="0">
                  <a:solidFill>
                    <a:srgbClr val="0027B4"/>
                  </a:solidFill>
                </a:rPr>
                <a:t>Single-gold check</a:t>
              </a:r>
            </a:p>
          </p:txBody>
        </p:sp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ACFC3DC0-45AA-D438-A834-1E39C1309B1C}"/>
                </a:ext>
              </a:extLst>
            </p:cNvPr>
            <p:cNvGrpSpPr/>
            <p:nvPr/>
          </p:nvGrpSpPr>
          <p:grpSpPr>
            <a:xfrm>
              <a:off x="9690018" y="1829285"/>
              <a:ext cx="1009403" cy="461665"/>
              <a:chOff x="9641438" y="2017388"/>
              <a:chExt cx="1009403" cy="461665"/>
            </a:xfrm>
          </p:grpSpPr>
          <p:sp>
            <p:nvSpPr>
              <p:cNvPr id="336" name="Rounded Rectangle 335">
                <a:extLst>
                  <a:ext uri="{FF2B5EF4-FFF2-40B4-BE49-F238E27FC236}">
                    <a16:creationId xmlns:a16="http://schemas.microsoft.com/office/drawing/2014/main" id="{FC645BD9-30ED-CE7F-70BE-28FDD9966683}"/>
                  </a:ext>
                </a:extLst>
              </p:cNvPr>
              <p:cNvSpPr/>
              <p:nvPr/>
            </p:nvSpPr>
            <p:spPr>
              <a:xfrm>
                <a:off x="9720826" y="2022963"/>
                <a:ext cx="850944" cy="418749"/>
              </a:xfrm>
              <a:prstGeom prst="roundRect">
                <a:avLst>
                  <a:gd name="adj" fmla="val 12569"/>
                </a:avLst>
              </a:prstGeom>
              <a:solidFill>
                <a:srgbClr val="EDF4FC"/>
              </a:solidFill>
              <a:ln>
                <a:solidFill>
                  <a:srgbClr val="8BA8E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883FE1A0-BACD-FA53-4D5D-D4635B817592}"/>
                  </a:ext>
                </a:extLst>
              </p:cNvPr>
              <p:cNvSpPr txBox="1"/>
              <p:nvPr/>
            </p:nvSpPr>
            <p:spPr>
              <a:xfrm>
                <a:off x="9641438" y="2017388"/>
                <a:ext cx="10094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91082"/>
                    </a:solidFill>
                  </a:rPr>
                  <a:t>Intended accuracy</a:t>
                </a:r>
              </a:p>
            </p:txBody>
          </p:sp>
        </p:grpSp>
        <p:grpSp>
          <p:nvGrpSpPr>
            <p:cNvPr id="339" name="Group 338">
              <a:extLst>
                <a:ext uri="{FF2B5EF4-FFF2-40B4-BE49-F238E27FC236}">
                  <a16:creationId xmlns:a16="http://schemas.microsoft.com/office/drawing/2014/main" id="{559D9B1E-AFFE-0347-7240-6791F99282AF}"/>
                </a:ext>
              </a:extLst>
            </p:cNvPr>
            <p:cNvGrpSpPr/>
            <p:nvPr/>
          </p:nvGrpSpPr>
          <p:grpSpPr>
            <a:xfrm>
              <a:off x="11026145" y="1827371"/>
              <a:ext cx="1009403" cy="461665"/>
              <a:chOff x="9641438" y="2017388"/>
              <a:chExt cx="1009403" cy="461665"/>
            </a:xfrm>
          </p:grpSpPr>
          <p:sp>
            <p:nvSpPr>
              <p:cNvPr id="340" name="Rounded Rectangle 339">
                <a:extLst>
                  <a:ext uri="{FF2B5EF4-FFF2-40B4-BE49-F238E27FC236}">
                    <a16:creationId xmlns:a16="http://schemas.microsoft.com/office/drawing/2014/main" id="{BCDD0571-5149-F9AC-A2C3-D3400DFFD3A8}"/>
                  </a:ext>
                </a:extLst>
              </p:cNvPr>
              <p:cNvSpPr/>
              <p:nvPr/>
            </p:nvSpPr>
            <p:spPr>
              <a:xfrm>
                <a:off x="9720826" y="2022963"/>
                <a:ext cx="850944" cy="418749"/>
              </a:xfrm>
              <a:prstGeom prst="roundRect">
                <a:avLst>
                  <a:gd name="adj" fmla="val 12569"/>
                </a:avLst>
              </a:prstGeom>
              <a:solidFill>
                <a:srgbClr val="FDEEEE"/>
              </a:solidFill>
              <a:ln>
                <a:solidFill>
                  <a:srgbClr val="F0BEB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A0D2504A-35DD-7138-971A-549A9F79DECA}"/>
                  </a:ext>
                </a:extLst>
              </p:cNvPr>
              <p:cNvSpPr txBox="1"/>
              <p:nvPr/>
            </p:nvSpPr>
            <p:spPr>
              <a:xfrm>
                <a:off x="9641438" y="2017388"/>
                <a:ext cx="10094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A50609"/>
                    </a:solidFill>
                  </a:rPr>
                  <a:t>Default capture rate</a:t>
                </a:r>
              </a:p>
            </p:txBody>
          </p:sp>
        </p:grpSp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7B20A82C-9FC7-3649-AD8F-D9F2211A2472}"/>
                </a:ext>
              </a:extLst>
            </p:cNvPr>
            <p:cNvGrpSpPr/>
            <p:nvPr/>
          </p:nvGrpSpPr>
          <p:grpSpPr>
            <a:xfrm>
              <a:off x="10671584" y="1884286"/>
              <a:ext cx="336182" cy="307777"/>
              <a:chOff x="12220299" y="5559949"/>
              <a:chExt cx="336182" cy="307777"/>
            </a:xfrm>
          </p:grpSpPr>
          <p:sp>
            <p:nvSpPr>
              <p:cNvPr id="342" name="Oval 341">
                <a:extLst>
                  <a:ext uri="{FF2B5EF4-FFF2-40B4-BE49-F238E27FC236}">
                    <a16:creationId xmlns:a16="http://schemas.microsoft.com/office/drawing/2014/main" id="{416B4D46-7387-3BAE-36CB-02D2EC08EB94}"/>
                  </a:ext>
                </a:extLst>
              </p:cNvPr>
              <p:cNvSpPr/>
              <p:nvPr/>
            </p:nvSpPr>
            <p:spPr>
              <a:xfrm>
                <a:off x="12291858" y="5616235"/>
                <a:ext cx="214748" cy="21077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E6443153-E796-B2FB-00D1-2BF5AB80A351}"/>
                  </a:ext>
                </a:extLst>
              </p:cNvPr>
              <p:cNvSpPr txBox="1"/>
              <p:nvPr/>
            </p:nvSpPr>
            <p:spPr>
              <a:xfrm>
                <a:off x="12220299" y="5559949"/>
                <a:ext cx="3361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vs</a:t>
                </a:r>
              </a:p>
            </p:txBody>
          </p:sp>
        </p:grp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570963D9-5726-84B0-411B-02961B3F955F}"/>
                </a:ext>
              </a:extLst>
            </p:cNvPr>
            <p:cNvSpPr txBox="1"/>
            <p:nvPr/>
          </p:nvSpPr>
          <p:spPr>
            <a:xfrm>
              <a:off x="9833316" y="2240507"/>
              <a:ext cx="20596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reveals the single-gold illusion</a:t>
              </a:r>
            </a:p>
          </p:txBody>
        </p:sp>
      </p:grpSp>
      <p:sp>
        <p:nvSpPr>
          <p:cNvPr id="346" name="Rounded Rectangle 345">
            <a:extLst>
              <a:ext uri="{FF2B5EF4-FFF2-40B4-BE49-F238E27FC236}">
                <a16:creationId xmlns:a16="http://schemas.microsoft.com/office/drawing/2014/main" id="{338C4F38-04DA-96A6-3EBF-BD36C1D7FC57}"/>
              </a:ext>
            </a:extLst>
          </p:cNvPr>
          <p:cNvSpPr/>
          <p:nvPr/>
        </p:nvSpPr>
        <p:spPr>
          <a:xfrm>
            <a:off x="9519967" y="2437955"/>
            <a:ext cx="2533964" cy="1056891"/>
          </a:xfrm>
          <a:prstGeom prst="roundRect">
            <a:avLst>
              <a:gd name="adj" fmla="val 20187"/>
            </a:avLst>
          </a:prstGeom>
          <a:solidFill>
            <a:srgbClr val="FEFEFE"/>
          </a:solidFill>
          <a:ln>
            <a:solidFill>
              <a:srgbClr val="C2C2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C61771AA-679B-9FB0-27FD-96486E8185A4}"/>
              </a:ext>
            </a:extLst>
          </p:cNvPr>
          <p:cNvSpPr txBox="1"/>
          <p:nvPr/>
        </p:nvSpPr>
        <p:spPr>
          <a:xfrm>
            <a:off x="10164852" y="2455720"/>
            <a:ext cx="1245213" cy="200055"/>
          </a:xfrm>
          <a:prstGeom prst="rect">
            <a:avLst/>
          </a:prstGeom>
          <a:solidFill>
            <a:srgbClr val="FEFEFE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300" dirty="0">
                <a:solidFill>
                  <a:srgbClr val="0027B4"/>
                </a:solidFill>
              </a:rPr>
              <a:t>Interaction quality</a:t>
            </a:r>
          </a:p>
        </p:txBody>
      </p:sp>
      <p:pic>
        <p:nvPicPr>
          <p:cNvPr id="351" name="Picture 350">
            <a:extLst>
              <a:ext uri="{FF2B5EF4-FFF2-40B4-BE49-F238E27FC236}">
                <a16:creationId xmlns:a16="http://schemas.microsoft.com/office/drawing/2014/main" id="{BB1E28B3-ABCC-F61D-3F5B-C455FD5329E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74701" y="2628067"/>
            <a:ext cx="458106" cy="410387"/>
          </a:xfrm>
          <a:prstGeom prst="rect">
            <a:avLst/>
          </a:prstGeom>
        </p:spPr>
      </p:pic>
      <p:pic>
        <p:nvPicPr>
          <p:cNvPr id="352" name="Picture 351">
            <a:extLst>
              <a:ext uri="{FF2B5EF4-FFF2-40B4-BE49-F238E27FC236}">
                <a16:creationId xmlns:a16="http://schemas.microsoft.com/office/drawing/2014/main" id="{0B7EF31A-ACE0-54BF-B151-292FDA52438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183649" y="2657454"/>
            <a:ext cx="419100" cy="381000"/>
          </a:xfrm>
          <a:prstGeom prst="rect">
            <a:avLst/>
          </a:prstGeom>
        </p:spPr>
      </p:pic>
      <p:pic>
        <p:nvPicPr>
          <p:cNvPr id="353" name="Picture 352">
            <a:extLst>
              <a:ext uri="{FF2B5EF4-FFF2-40B4-BE49-F238E27FC236}">
                <a16:creationId xmlns:a16="http://schemas.microsoft.com/office/drawing/2014/main" id="{3BE1794B-1FC3-163C-69E3-3C9BF8E1BAB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820068" y="2648612"/>
            <a:ext cx="393700" cy="355600"/>
          </a:xfrm>
          <a:prstGeom prst="rect">
            <a:avLst/>
          </a:prstGeom>
        </p:spPr>
      </p:pic>
      <p:pic>
        <p:nvPicPr>
          <p:cNvPr id="354" name="Picture 353">
            <a:extLst>
              <a:ext uri="{FF2B5EF4-FFF2-40B4-BE49-F238E27FC236}">
                <a16:creationId xmlns:a16="http://schemas.microsoft.com/office/drawing/2014/main" id="{D0345C3B-D5E1-A4AE-EFE9-91C4FE111BC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470241" y="2624541"/>
            <a:ext cx="431800" cy="406400"/>
          </a:xfrm>
          <a:prstGeom prst="rect">
            <a:avLst/>
          </a:prstGeom>
        </p:spPr>
      </p:pic>
      <p:sp>
        <p:nvSpPr>
          <p:cNvPr id="355" name="TextBox 354">
            <a:extLst>
              <a:ext uri="{FF2B5EF4-FFF2-40B4-BE49-F238E27FC236}">
                <a16:creationId xmlns:a16="http://schemas.microsoft.com/office/drawing/2014/main" id="{69DA8E37-7CF6-A597-077E-7FA55B37ED7E}"/>
              </a:ext>
            </a:extLst>
          </p:cNvPr>
          <p:cNvSpPr txBox="1"/>
          <p:nvPr/>
        </p:nvSpPr>
        <p:spPr>
          <a:xfrm>
            <a:off x="9627367" y="3101553"/>
            <a:ext cx="327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IR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DA5BBD93-047C-D045-EAB3-E847208F5B2F}"/>
              </a:ext>
            </a:extLst>
          </p:cNvPr>
          <p:cNvSpPr txBox="1"/>
          <p:nvPr/>
        </p:nvSpPr>
        <p:spPr>
          <a:xfrm>
            <a:off x="10015745" y="2971626"/>
            <a:ext cx="6944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/>
              <a:t>AxisHit</a:t>
            </a:r>
            <a:endParaRPr lang="en-US" sz="1400" dirty="0"/>
          </a:p>
          <a:p>
            <a:pPr algn="ctr"/>
            <a:r>
              <a:rPr lang="en-US" sz="1400" dirty="0"/>
              <a:t>@1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86A7E7EB-0018-F514-2A04-ECA1FDD7054D}"/>
              </a:ext>
            </a:extLst>
          </p:cNvPr>
          <p:cNvSpPr txBox="1"/>
          <p:nvPr/>
        </p:nvSpPr>
        <p:spPr>
          <a:xfrm>
            <a:off x="10572381" y="2971626"/>
            <a:ext cx="8526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Wrong Axis Rate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2F1DE455-A476-C9DE-384B-6EB0A5DB8D7C}"/>
              </a:ext>
            </a:extLst>
          </p:cNvPr>
          <p:cNvSpPr txBox="1"/>
          <p:nvPr/>
        </p:nvSpPr>
        <p:spPr>
          <a:xfrm>
            <a:off x="11238734" y="2971626"/>
            <a:ext cx="886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Generic Ask Rate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A0BFD55B-91EE-94B4-5FBE-147F0E853AD9}"/>
              </a:ext>
            </a:extLst>
          </p:cNvPr>
          <p:cNvSpPr txBox="1"/>
          <p:nvPr/>
        </p:nvSpPr>
        <p:spPr>
          <a:xfrm>
            <a:off x="9666428" y="3557928"/>
            <a:ext cx="9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91082"/>
                </a:solidFill>
              </a:rPr>
              <a:t>Calibration</a:t>
            </a:r>
          </a:p>
        </p:txBody>
      </p:sp>
      <p:pic>
        <p:nvPicPr>
          <p:cNvPr id="360" name="Picture 359">
            <a:extLst>
              <a:ext uri="{FF2B5EF4-FFF2-40B4-BE49-F238E27FC236}">
                <a16:creationId xmlns:a16="http://schemas.microsoft.com/office/drawing/2014/main" id="{FB240294-6DA9-12E7-5D97-31697F028BE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693026" y="3849443"/>
            <a:ext cx="376235" cy="362300"/>
          </a:xfrm>
          <a:prstGeom prst="rect">
            <a:avLst/>
          </a:prstGeom>
        </p:spPr>
      </p:pic>
      <p:sp>
        <p:nvSpPr>
          <p:cNvPr id="361" name="TextBox 360">
            <a:extLst>
              <a:ext uri="{FF2B5EF4-FFF2-40B4-BE49-F238E27FC236}">
                <a16:creationId xmlns:a16="http://schemas.microsoft.com/office/drawing/2014/main" id="{ACD4E037-5972-C34E-FAC4-753147621779}"/>
              </a:ext>
            </a:extLst>
          </p:cNvPr>
          <p:cNvSpPr txBox="1"/>
          <p:nvPr/>
        </p:nvSpPr>
        <p:spPr>
          <a:xfrm>
            <a:off x="10105042" y="3877231"/>
            <a:ext cx="455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ECE</a:t>
            </a:r>
          </a:p>
        </p:txBody>
      </p:sp>
      <p:sp>
        <p:nvSpPr>
          <p:cNvPr id="362" name="Rounded Rectangle 361">
            <a:extLst>
              <a:ext uri="{FF2B5EF4-FFF2-40B4-BE49-F238E27FC236}">
                <a16:creationId xmlns:a16="http://schemas.microsoft.com/office/drawing/2014/main" id="{AD748342-69AD-70BD-036F-6969A4150CC3}"/>
              </a:ext>
            </a:extLst>
          </p:cNvPr>
          <p:cNvSpPr/>
          <p:nvPr/>
        </p:nvSpPr>
        <p:spPr>
          <a:xfrm>
            <a:off x="10856222" y="3543690"/>
            <a:ext cx="1177064" cy="692675"/>
          </a:xfrm>
          <a:prstGeom prst="roundRect">
            <a:avLst>
              <a:gd name="adj" fmla="val 15918"/>
            </a:avLst>
          </a:prstGeom>
          <a:solidFill>
            <a:srgbClr val="FEFEFE"/>
          </a:solidFill>
          <a:ln>
            <a:solidFill>
              <a:srgbClr val="C9C9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44C20F19-B401-15AC-6B48-B867CC16C340}"/>
              </a:ext>
            </a:extLst>
          </p:cNvPr>
          <p:cNvSpPr txBox="1"/>
          <p:nvPr/>
        </p:nvSpPr>
        <p:spPr>
          <a:xfrm>
            <a:off x="10991165" y="3552645"/>
            <a:ext cx="8745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91082"/>
                </a:solidFill>
              </a:rPr>
              <a:t>Efficiency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7CA43193-8CA8-4F0D-97E5-A11B573AC5FA}"/>
              </a:ext>
            </a:extLst>
          </p:cNvPr>
          <p:cNvSpPr txBox="1"/>
          <p:nvPr/>
        </p:nvSpPr>
        <p:spPr>
          <a:xfrm>
            <a:off x="11429939" y="3861342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DisE</a:t>
            </a:r>
            <a:r>
              <a:rPr lang="en-US" sz="1400" dirty="0"/>
              <a:t>+</a:t>
            </a:r>
          </a:p>
        </p:txBody>
      </p:sp>
      <p:pic>
        <p:nvPicPr>
          <p:cNvPr id="366" name="Picture 365">
            <a:extLst>
              <a:ext uri="{FF2B5EF4-FFF2-40B4-BE49-F238E27FC236}">
                <a16:creationId xmlns:a16="http://schemas.microsoft.com/office/drawing/2014/main" id="{102CA570-0868-F6EA-53A6-F69B21CC57B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926918" y="3853307"/>
            <a:ext cx="520295" cy="292666"/>
          </a:xfrm>
          <a:prstGeom prst="rect">
            <a:avLst/>
          </a:prstGeom>
        </p:spPr>
      </p:pic>
      <p:sp>
        <p:nvSpPr>
          <p:cNvPr id="367" name="TextBox 366">
            <a:extLst>
              <a:ext uri="{FF2B5EF4-FFF2-40B4-BE49-F238E27FC236}">
                <a16:creationId xmlns:a16="http://schemas.microsoft.com/office/drawing/2014/main" id="{7E9686E1-D849-6EED-CA13-8778313169E0}"/>
              </a:ext>
            </a:extLst>
          </p:cNvPr>
          <p:cNvSpPr txBox="1"/>
          <p:nvPr/>
        </p:nvSpPr>
        <p:spPr>
          <a:xfrm>
            <a:off x="10051860" y="4368706"/>
            <a:ext cx="2019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250D88"/>
                </a:solidFill>
              </a:rPr>
              <a:t>Core bottleneck:</a:t>
            </a:r>
            <a:r>
              <a:rPr lang="en-US" sz="1200" dirty="0">
                <a:solidFill>
                  <a:srgbClr val="250D88"/>
                </a:solidFill>
              </a:rPr>
              <a:t> </a:t>
            </a:r>
          </a:p>
          <a:p>
            <a:r>
              <a:rPr lang="en-US" sz="1200" dirty="0">
                <a:solidFill>
                  <a:srgbClr val="250D88"/>
                </a:solidFill>
              </a:rPr>
              <a:t>correct follow-up clarification</a:t>
            </a:r>
          </a:p>
        </p:txBody>
      </p:sp>
      <p:pic>
        <p:nvPicPr>
          <p:cNvPr id="368" name="Picture 367">
            <a:extLst>
              <a:ext uri="{FF2B5EF4-FFF2-40B4-BE49-F238E27FC236}">
                <a16:creationId xmlns:a16="http://schemas.microsoft.com/office/drawing/2014/main" id="{7C16EE12-53CD-1EB2-1CBA-87012B4D014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34190" y="4310990"/>
            <a:ext cx="465548" cy="57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816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1200</TotalTime>
  <Words>415</Words>
  <Application>Microsoft Macintosh PowerPoint</Application>
  <PresentationFormat>Custom</PresentationFormat>
  <Paragraphs>122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Kwok</dc:creator>
  <cp:lastModifiedBy>Thomas Kwok</cp:lastModifiedBy>
  <cp:revision>90</cp:revision>
  <dcterms:created xsi:type="dcterms:W3CDTF">2026-06-22T03:30:25Z</dcterms:created>
  <dcterms:modified xsi:type="dcterms:W3CDTF">2026-06-23T17:21:20Z</dcterms:modified>
</cp:coreProperties>
</file>